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8" r:id="rId3"/>
    <p:sldId id="258" r:id="rId4"/>
    <p:sldId id="303" r:id="rId5"/>
    <p:sldId id="304" r:id="rId6"/>
    <p:sldId id="259" r:id="rId7"/>
    <p:sldId id="296" r:id="rId8"/>
    <p:sldId id="265" r:id="rId9"/>
    <p:sldId id="260" r:id="rId10"/>
    <p:sldId id="293" r:id="rId11"/>
    <p:sldId id="267" r:id="rId12"/>
    <p:sldId id="284" r:id="rId13"/>
    <p:sldId id="270" r:id="rId14"/>
    <p:sldId id="271" r:id="rId15"/>
    <p:sldId id="274" r:id="rId16"/>
    <p:sldId id="276" r:id="rId17"/>
    <p:sldId id="275" r:id="rId18"/>
    <p:sldId id="280" r:id="rId19"/>
    <p:sldId id="277" r:id="rId20"/>
    <p:sldId id="281" r:id="rId21"/>
    <p:sldId id="278" r:id="rId22"/>
    <p:sldId id="285" r:id="rId23"/>
    <p:sldId id="292" r:id="rId24"/>
    <p:sldId id="286" r:id="rId25"/>
    <p:sldId id="287" r:id="rId26"/>
    <p:sldId id="288" r:id="rId27"/>
    <p:sldId id="302" r:id="rId28"/>
    <p:sldId id="290" r:id="rId29"/>
    <p:sldId id="305" r:id="rId30"/>
    <p:sldId id="291" r:id="rId31"/>
    <p:sldId id="299" r:id="rId32"/>
    <p:sldId id="300" r:id="rId33"/>
    <p:sldId id="30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70"/>
    <p:restoredTop sz="95890"/>
  </p:normalViewPr>
  <p:slideViewPr>
    <p:cSldViewPr snapToGrid="0">
      <p:cViewPr varScale="1">
        <p:scale>
          <a:sx n="85" d="100"/>
          <a:sy n="85" d="100"/>
        </p:scale>
        <p:origin x="176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49608" y="1642687"/>
            <a:ext cx="6542280" cy="2736257"/>
            <a:chOff x="-2438304" y="1763841"/>
            <a:chExt cx="9359617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070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587765" y="1565535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381202-B94C-7CE4-0412-F78E2B25B76A}"/>
              </a:ext>
            </a:extLst>
          </p:cNvPr>
          <p:cNvSpPr/>
          <p:nvPr/>
        </p:nvSpPr>
        <p:spPr>
          <a:xfrm>
            <a:off x="5884646" y="155124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980DFF-CDA6-1991-1715-227DAFD87170}"/>
              </a:ext>
            </a:extLst>
          </p:cNvPr>
          <p:cNvSpPr/>
          <p:nvPr/>
        </p:nvSpPr>
        <p:spPr>
          <a:xfrm>
            <a:off x="6865726" y="161791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BD14E6-1761-B7E7-6D7C-5D708C41DA71}"/>
              </a:ext>
            </a:extLst>
          </p:cNvPr>
          <p:cNvSpPr/>
          <p:nvPr/>
        </p:nvSpPr>
        <p:spPr>
          <a:xfrm>
            <a:off x="7846806" y="164172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830845-BCED-AB50-535F-CD86A7F0581C}"/>
              </a:ext>
            </a:extLst>
          </p:cNvPr>
          <p:cNvSpPr/>
          <p:nvPr/>
        </p:nvSpPr>
        <p:spPr>
          <a:xfrm>
            <a:off x="8827889" y="1522661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8DACE7-CCE8-3653-C465-35A59E76064E}"/>
              </a:ext>
            </a:extLst>
          </p:cNvPr>
          <p:cNvSpPr/>
          <p:nvPr/>
        </p:nvSpPr>
        <p:spPr>
          <a:xfrm>
            <a:off x="9666092" y="161790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B6CC53-6B3A-82A3-9477-36F7CA89EB13}"/>
              </a:ext>
            </a:extLst>
          </p:cNvPr>
          <p:cNvSpPr/>
          <p:nvPr/>
        </p:nvSpPr>
        <p:spPr>
          <a:xfrm>
            <a:off x="10418572" y="162742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96EB2896-F7FC-D893-489E-93556A8503FD}"/>
              </a:ext>
            </a:extLst>
          </p:cNvPr>
          <p:cNvSpPr/>
          <p:nvPr/>
        </p:nvSpPr>
        <p:spPr>
          <a:xfrm>
            <a:off x="2871788" y="1114436"/>
            <a:ext cx="4586287" cy="989259"/>
          </a:xfrm>
          <a:prstGeom prst="arc">
            <a:avLst/>
          </a:prstGeom>
          <a:ln w="317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987C329-0D4B-2B20-1DDD-FBD62BFD9F73}"/>
              </a:ext>
            </a:extLst>
          </p:cNvPr>
          <p:cNvSpPr/>
          <p:nvPr/>
        </p:nvSpPr>
        <p:spPr>
          <a:xfrm>
            <a:off x="3024188" y="1109668"/>
            <a:ext cx="4586287" cy="989259"/>
          </a:xfrm>
          <a:prstGeom prst="arc">
            <a:avLst>
              <a:gd name="adj1" fmla="val 10793430"/>
              <a:gd name="adj2" fmla="val 16358403"/>
            </a:avLst>
          </a:prstGeom>
          <a:ln w="31750"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uiExpand="1" build="p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dirty="0"/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51526E06-C794-8F8E-0C71-50BAA9D0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6D104-4157-A4F0-68C8-03EC70C3957F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245001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9E42D-395B-91A6-4B9D-9321B2197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263ED7-E3F7-B734-8E45-AEB7B6ABAC82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36CA9-AEC0-E77F-8A89-0DBD4A8C5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2C61D5-CA8D-04E0-E688-A8E8D9263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075752-9C5B-9F81-A3D5-4CF6E5696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86" y="3714265"/>
            <a:ext cx="8207427" cy="234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[31]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F26817-E287-807B-BE3D-C99E1FA36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163" y="1678111"/>
                <a:ext cx="11456773" cy="4530725"/>
              </a:xfrm>
            </p:spPr>
            <p:txBody>
              <a:bodyPr>
                <a:noAutofit/>
              </a:bodyPr>
              <a:lstStyle/>
              <a:p>
                <a:r>
                  <a:rPr lang="en-US" sz="1800" dirty="0">
                    <a:solidFill/>
                  </a:rPr>
                  <a:t>Distance to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heaven</a:t>
                </a:r>
                <a:r>
                  <a:rPr lang="en-US" sz="1800" dirty="0">
                    <a:solidFill/>
                  </a:rPr>
                  <a:t> (aggregate n goals to one)</a:t>
                </a:r>
                <a:br>
                  <a:rPr lang="en-US" sz="1800" dirty="0"/>
                </a:b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r>
                  <a:rPr lang="en-US" sz="1800" dirty="0">
                    <a:solidFill/>
                  </a:rPr>
                  <a:t>Regret = (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d2h</a:t>
                </a:r>
                <a:r>
                  <a:rPr lang="en-US" sz="1800" dirty="0">
                    <a:solidFill/>
                  </a:rPr>
                  <a:t> – lo) / (mu – lo)</a:t>
                </a:r>
              </a:p>
              <a:p>
                <a:r>
                  <a:rPr lang="en-US" sz="1800" dirty="0">
                    <a:solidFill/>
                  </a:rPr>
                  <a:t>Win = int(100 * (1 – regret))</a:t>
                </a:r>
              </a:p>
              <a:p>
                <a:pPr lvl="1"/>
                <a:r>
                  <a:rPr lang="en-US" sz="1800" dirty="0">
                    <a:solidFill/>
                  </a:rPr>
                  <a:t>Win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1800" dirty="0">
                    <a:solidFill/>
                  </a:rPr>
                  <a:t> 0 </a:t>
                </a:r>
                <a:r>
                  <a:rPr lang="en-US" sz="1800" dirty="0">
                    <a:solidFill/>
                    <a:sym typeface="Wingdings" pitchFamily="2" charset="2"/>
                  </a:rPr>
                  <a:t> optimizer just finds mu</a:t>
                </a:r>
              </a:p>
              <a:p>
                <a:pPr lvl="2"/>
                <a:r>
                  <a:rPr lang="en-US" sz="1800" b="1" dirty="0">
                    <a:solidFill>
                      <a:srgbClr val="FF0000"/>
                    </a:solidFill>
                    <a:sym typeface="Wingdings" pitchFamily="2" charset="2"/>
                  </a:rPr>
                  <a:t>Failure</a:t>
                </a:r>
              </a:p>
              <a:p>
                <a:pPr lvl="1"/>
                <a:r>
                  <a:rPr lang="en-US" sz="1800" dirty="0">
                    <a:solidFill/>
                    <a:sym typeface="Wingdings" pitchFamily="2" charset="2"/>
                  </a:rPr>
                  <a:t>Win=100  found reference optimum</a:t>
                </a:r>
              </a:p>
              <a:p>
                <a:pPr lvl="2"/>
                <a:r>
                  <a:rPr lang="en-US" sz="1800" b="1" dirty="0">
                    <a:solidFill>
                      <a:srgbClr val="FF0000"/>
                    </a:solidFill>
                    <a:sym typeface="Wingdings" pitchFamily="2" charset="2"/>
                  </a:rPr>
                  <a:t>Success</a:t>
                </a:r>
              </a:p>
              <a:p>
                <a:r>
                  <a:rPr lang="en-US" sz="1800" dirty="0">
                    <a:solidFill/>
                    <a:sym typeface="Wingdings" pitchFamily="2" charset="2"/>
                  </a:rPr>
                  <a:t>Build regression tree on </a:t>
                </a:r>
                <a:r>
                  <a:rPr lang="en-US" sz="1800" b="1" dirty="0">
                    <a:solidFill>
                      <a:srgbClr val="FF0000"/>
                    </a:solidFill>
                    <a:sym typeface="Wingdings" pitchFamily="2" charset="2"/>
                  </a:rPr>
                  <a:t>labeled</a:t>
                </a:r>
                <a:r>
                  <a:rPr lang="en-US" sz="1800" dirty="0">
                    <a:solidFill/>
                    <a:sym typeface="Wingdings" pitchFamily="2" charset="2"/>
                  </a:rPr>
                  <a:t> </a:t>
                </a:r>
                <a:r>
                  <a:rPr lang="en-US" sz="1800" dirty="0" err="1">
                    <a:solidFill/>
                    <a:sym typeface="Wingdings" pitchFamily="2" charset="2"/>
                  </a:rPr>
                  <a:t>egs</a:t>
                </a:r>
                <a:endParaRPr lang="en-US" sz="1800" dirty="0">
                  <a:sym typeface="Wingdings" pitchFamily="2" charset="2"/>
                </a:endParaRPr>
              </a:p>
              <a:p>
                <a:pPr lvl="1"/>
                <a:r>
                  <a:rPr lang="en-US" sz="1800" dirty="0">
                    <a:solidFill/>
                    <a:sym typeface="Wingdings" pitchFamily="2" charset="2"/>
                  </a:rPr>
                  <a:t>Splitting rows to minimize 𝝈 of win</a:t>
                </a:r>
              </a:p>
              <a:p>
                <a:pPr lvl="1"/>
                <a:r>
                  <a:rPr lang="en-US" sz="1800" dirty="0">
                    <a:solidFill/>
                    <a:sym typeface="Wingdings" pitchFamily="2" charset="2"/>
                  </a:rPr>
                  <a:t>Reports what makes you good or bad</a:t>
                </a:r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F26817-E287-807B-BE3D-C99E1FA36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163" y="1678111"/>
                <a:ext cx="11456773" cy="4530725"/>
              </a:xfrm>
              <a:blipFill>
                <a:blip r:embed="rId2"/>
                <a:stretch>
                  <a:fillRect l="-332" t="-1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982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5406053" y="1951108"/>
            <a:ext cx="716584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4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400" u="sng" dirty="0">
                <a:solidFill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400" b="1" u="sng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4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4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4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4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482902" y="2433633"/>
            <a:ext cx="0" cy="33528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604609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6039762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8594F5-A7EF-06C4-FC52-583A613A6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7592" y="0"/>
            <a:ext cx="3755233" cy="597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5321" y="6419088"/>
            <a:ext cx="311187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400" i="1" dirty="0">
                <a:solidFill>
                  <a:srgbClr val="B05000"/>
                </a:solidFill>
              </a:rPr>
              <a:t>Any way to use all this to help LLMs? </a:t>
            </a:r>
            <a:r>
              <a:rPr sz="1400" i="1" dirty="0">
                <a:solidFill>
                  <a:srgbClr val="B05000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FE23BE-F576-91DD-7EA2-097B9603A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60021"/>
            <a:ext cx="10088880" cy="426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185910" cy="4598996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Welcome to my  data center</a:t>
            </a:r>
          </a:p>
          <a:p>
            <a:pPr lvl="1"/>
            <a:r>
              <a:rPr lang="en-US" sz="1800" dirty="0">
                <a:solidFill/>
              </a:rPr>
              <a:t>ribbon on the door the </a:t>
            </a:r>
            <a:br>
              <a:rPr lang="en-US" sz="1800" dirty="0">
                <a:solidFill/>
              </a:rPr>
            </a:br>
            <a:r>
              <a:rPr lang="en-US" sz="1800" dirty="0">
                <a:solidFill/>
              </a:rPr>
              <a:t>mayor can cut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such</a:t>
            </a:r>
            <a:r>
              <a:rPr lang="en-US" sz="1800" dirty="0">
                <a:solidFill/>
              </a:rPr>
              <a:t> a spectacle!</a:t>
            </a: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r>
              <a:rPr lang="en-US" sz="1800" dirty="0">
                <a:solidFill/>
              </a:rPr>
              <a:t>Compare that to </a:t>
            </a:r>
            <a:r>
              <a:rPr lang="en-US" sz="1800" b="1" dirty="0" err="1">
                <a:solidFill>
                  <a:srgbClr val="FF0000"/>
                </a:solidFill>
              </a:rPr>
              <a:t>timm</a:t>
            </a:r>
            <a:r>
              <a:rPr lang="en-US" sz="1800" b="1" dirty="0">
                <a:solidFill>
                  <a:srgbClr val="FF0000"/>
                </a:solidFill>
              </a:rPr>
              <a:t> inc</a:t>
            </a:r>
            <a:r>
              <a:rPr lang="en-US" sz="1800" dirty="0">
                <a:solidFill/>
              </a:rPr>
              <a:t>.</a:t>
            </a:r>
          </a:p>
          <a:p>
            <a:pPr lvl="1"/>
            <a:r>
              <a:rPr lang="en-US" sz="1800" dirty="0">
                <a:solidFill/>
              </a:rPr>
              <a:t>No special software to sell</a:t>
            </a:r>
          </a:p>
          <a:p>
            <a:pPr lvl="2"/>
            <a:r>
              <a:rPr lang="en-US" sz="1800" dirty="0">
                <a:solidFill/>
              </a:rPr>
              <a:t>you can build it yourself</a:t>
            </a:r>
          </a:p>
          <a:p>
            <a:pPr lvl="1"/>
            <a:r>
              <a:rPr lang="en-US" sz="1800" dirty="0">
                <a:solidFill/>
              </a:rPr>
              <a:t>No special hardware to sell </a:t>
            </a:r>
          </a:p>
          <a:p>
            <a:pPr lvl="2"/>
            <a:r>
              <a:rPr lang="en-US" sz="1800" dirty="0">
                <a:solidFill/>
              </a:rPr>
              <a:t>our algorithms  are so fast, they don’t </a:t>
            </a:r>
            <a:r>
              <a:rPr lang="en-US" sz="1800" b="1" dirty="0">
                <a:solidFill>
                  <a:srgbClr val="FF0000"/>
                </a:solidFill>
              </a:rPr>
              <a:t>need</a:t>
            </a:r>
            <a:r>
              <a:rPr lang="en-US" sz="1800" dirty="0">
                <a:solidFill/>
              </a:rPr>
              <a:t> it</a:t>
            </a:r>
          </a:p>
          <a:p>
            <a:pPr lvl="1"/>
            <a:r>
              <a:rPr lang="en-US" sz="1800" dirty="0">
                <a:solidFill/>
              </a:rPr>
              <a:t>IPO : low evaluation</a:t>
            </a:r>
            <a:endParaRPr lang="en-US" sz="1800" dirty="0"/>
          </a:p>
          <a:p>
            <a:endParaRPr lang="en-US" sz="18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874" y="2444554"/>
            <a:ext cx="5377994" cy="3251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481350" y="2366670"/>
            <a:ext cx="4063081" cy="304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CPU; e.g. 20 months of CPU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CB310A-7720-074C-7DDE-95D2A212D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982" y="118872"/>
            <a:ext cx="3755233" cy="597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501D8-90A5-8360-2E38-CD4587322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03861100-1E08-574B-AA1E-B8BA9FB4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0C6EAE-0BC2-C985-7A03-1FF231FDBAD1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8498198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5269</TotalTime>
  <Words>3537</Words>
  <Application>Microsoft Macintosh PowerPoint</Application>
  <PresentationFormat>Widescreen</PresentationFormat>
  <Paragraphs>316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62</cp:revision>
  <cp:lastPrinted>2026-07-06T12:06:54Z</cp:lastPrinted>
  <dcterms:created xsi:type="dcterms:W3CDTF">2026-07-01T18:28:53Z</dcterms:created>
  <dcterms:modified xsi:type="dcterms:W3CDTF">2026-07-06T12:08:19Z</dcterms:modified>
</cp:coreProperties>
</file>