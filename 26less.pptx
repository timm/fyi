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98" r:id="rId3"/>
    <p:sldId id="258" r:id="rId4"/>
    <p:sldId id="259" r:id="rId5"/>
    <p:sldId id="296" r:id="rId6"/>
    <p:sldId id="265" r:id="rId7"/>
    <p:sldId id="260" r:id="rId8"/>
    <p:sldId id="293" r:id="rId9"/>
    <p:sldId id="267" r:id="rId10"/>
    <p:sldId id="284" r:id="rId11"/>
    <p:sldId id="270" r:id="rId12"/>
    <p:sldId id="271" r:id="rId13"/>
    <p:sldId id="274" r:id="rId14"/>
    <p:sldId id="276" r:id="rId15"/>
    <p:sldId id="275" r:id="rId16"/>
    <p:sldId id="280" r:id="rId17"/>
    <p:sldId id="277" r:id="rId18"/>
    <p:sldId id="281" r:id="rId19"/>
    <p:sldId id="278" r:id="rId20"/>
    <p:sldId id="285" r:id="rId21"/>
    <p:sldId id="292" r:id="rId22"/>
    <p:sldId id="286" r:id="rId23"/>
    <p:sldId id="287" r:id="rId24"/>
    <p:sldId id="288" r:id="rId25"/>
    <p:sldId id="302" r:id="rId26"/>
    <p:sldId id="290" r:id="rId27"/>
    <p:sldId id="291" r:id="rId28"/>
    <p:sldId id="299" r:id="rId29"/>
    <p:sldId id="300" r:id="rId30"/>
    <p:sldId id="30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70"/>
    <p:restoredTop sz="95890"/>
  </p:normalViewPr>
  <p:slideViewPr>
    <p:cSldViewPr snapToGrid="0">
      <p:cViewPr>
        <p:scale>
          <a:sx n="84" d="100"/>
          <a:sy n="84" d="100"/>
        </p:scale>
        <p:origin x="1520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7AC370-6930-0C4F-AE64-58F4A3787EBA}" type="datetimeFigureOut">
              <a:rPr lang="en-US" smtClean="0"/>
              <a:t>7/5/26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42F92-B7BE-D445-8B38-C5CF1BF8D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725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042F92-B7BE-D445-8B38-C5CF1BF8DF0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02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04CBE-E452-7F73-53A5-7DF423A76A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64EBC7-544C-9826-67E6-ECC11C3D8E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342EFC-E13A-024B-C14E-23DD3C7CA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12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F95D-967D-A897-6B4E-5DD7C967B9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9AA03-D10D-202E-B771-90130F318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299D42-92A8-8054-67E4-5E71B6C43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842C2-E2B4-07D7-83B2-C46AE08607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3237" y="-14288"/>
            <a:ext cx="1528763" cy="15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24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A025B-43F0-A220-78A1-75800A275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4EF6AD-23D0-A15D-69C6-ED9B6D147E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BB7AB-053E-7126-8EC9-BF0FEF77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9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77D1-17A1-ABF9-6DF9-48AEB6600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DD30-9EEA-1320-B6EF-3BDEF72BA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07217C-6B7E-1046-E91F-EBEEC9BC0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54880F-3C2D-9EE3-521C-2162CD2B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8C2F967-483F-25AD-76B4-ADF53CE3B6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63237" y="-14288"/>
            <a:ext cx="1528763" cy="152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3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B5AAD-34BA-5A85-98E5-9F0793CD4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703DD-7A8F-872C-B533-890362696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79D59-A6FA-7695-C499-81FD6BAA6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94175-2E9D-FD20-C2A9-F94FAD27E9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ECADB9-6549-5C12-69E9-C07D5B4E1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36832EA-910B-55FE-A3D1-569073493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53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1943-58AE-CC06-89FA-7A68D993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7A4A05-F4EC-9B79-F03C-22D937A7A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94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539EB-B088-9080-8DAE-C8C14BD23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21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03C27-802C-4163-738C-07B271FFA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2DCDE-9912-2A91-0651-639F2376D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AA6C70-4DDA-983F-FE28-700A30BE51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CEB3DB-38C8-BD07-B85A-6D48B3337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858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A5FF4-077B-9341-2926-D6A589640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A591D6-C5DC-87BA-3A7D-7EDA9CB1E2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10B6E-E208-F69F-ECC0-B3FFB28C1A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A4B48-B45D-E07E-5EB2-F10A851E9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498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D48A-8BB5-F8D6-1B37-4AEF68448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87CE60-C927-7F4C-C86F-E492A4736D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BAAE7-2190-9F16-E0A9-553E348B0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076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BA610-9935-4C91-63C8-1C9BF236C5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0343DE-E4DB-8952-1A6A-DCE84C363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FBDA08-E90B-7DF5-CEFA-D810DB2DB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192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2892FE-098B-CF33-6CEF-061D5F3E2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4C124A-F6FE-057F-EE65-89C133BFFE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C22F23-D714-7786-3721-701C4884AE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119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="1">
                <a:solidFill>
                  <a:srgbClr val="FF0000"/>
                </a:solidFill>
              </a:defRPr>
            </a:lvl1pPr>
          </a:lstStyle>
          <a:p>
            <a:pPr algn="l"/>
            <a:fld id="{0DA98B4C-F442-F54F-B1BC-8328DD46939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972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imm@ieee.org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Simplicity on the Other Side of Complexity">
            <a:extLst>
              <a:ext uri="{FF2B5EF4-FFF2-40B4-BE49-F238E27FC236}">
                <a16:creationId xmlns:a16="http://schemas.microsoft.com/office/drawing/2014/main" id="{F8A38860-7388-6224-7EDF-99736949E0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37" y="1348870"/>
            <a:ext cx="6307278" cy="3946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6AAA216-8010-4605-1853-41189C609B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096" y="839498"/>
            <a:ext cx="10792522" cy="2387600"/>
          </a:xfrm>
        </p:spPr>
        <p:txBody>
          <a:bodyPr>
            <a:normAutofit/>
          </a:bodyPr>
          <a:lstStyle/>
          <a:p>
            <a:r>
              <a:rPr lang="en-US" sz="7200" dirty="0">
                <a:solidFill/>
              </a:rPr>
              <a:t>easier AI?</a:t>
            </a:r>
            <a:br>
              <a:rPr lang="en-US" sz="7200" dirty="0"/>
            </a:br>
            <a:br>
              <a:rPr lang="en-US" sz="3100" dirty="0"/>
            </a:br>
            <a:endParaRPr lang="en-US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E229A8-BC97-019B-948D-BE93C59683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492" y="4943273"/>
            <a:ext cx="5157318" cy="2126701"/>
          </a:xfrm>
        </p:spPr>
        <p:txBody>
          <a:bodyPr>
            <a:normAutofit/>
          </a:bodyPr>
          <a:lstStyle/>
          <a:p>
            <a:r>
              <a:rPr lang="en-US" sz="2000" u="sng" dirty="0">
                <a:solidFill/>
                <a:hlinkClick r:id="rId3"/>
              </a:rPr>
              <a:t>timm@ieee.org</a:t>
            </a:r>
            <a:r>
              <a:rPr lang="en-US" sz="2000" u="sng" dirty="0">
                <a:solidFill/>
              </a:rPr>
              <a:t> </a:t>
            </a:r>
          </a:p>
          <a:p>
            <a:r>
              <a:rPr lang="en-US" sz="2000" dirty="0">
                <a:solidFill/>
              </a:rPr>
              <a:t>ssbse’26: </a:t>
            </a:r>
            <a:r>
              <a:rPr lang="en-US" sz="2000" dirty="0" err="1">
                <a:solidFill/>
              </a:rPr>
              <a:t>july</a:t>
            </a:r>
            <a:r>
              <a:rPr lang="en-US" sz="2000" dirty="0">
                <a:solidFill/>
              </a:rPr>
              <a:t> 6, 2026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>
                <a:solidFill/>
              </a:rPr>
              <a:t>code: </a:t>
            </a:r>
            <a:r>
              <a:rPr lang="en-US" sz="2000" b="1" i="1" dirty="0">
                <a:solidFill>
                  <a:srgbClr val="FF0000"/>
                </a:solidFill>
              </a:rPr>
              <a:t>pip install </a:t>
            </a:r>
            <a:r>
              <a:rPr lang="en-US" sz="2000" b="1" i="1" dirty="0" err="1">
                <a:solidFill>
                  <a:srgbClr val="FF0000"/>
                </a:solidFill>
              </a:rPr>
              <a:t>ezr</a:t>
            </a:r>
            <a:br>
              <a:rPr lang="en-US" sz="2000" b="1" i="1" dirty="0">
                <a:solidFill/>
              </a:rPr>
            </a:br>
            <a:r>
              <a:rPr lang="en-US" sz="2000" dirty="0">
                <a:solidFill/>
              </a:rPr>
              <a:t>data: </a:t>
            </a:r>
            <a:r>
              <a:rPr lang="en-US" sz="2000" b="1" i="1" dirty="0">
                <a:solidFill>
                  <a:srgbClr val="FF0000"/>
                </a:solidFill>
              </a:rPr>
              <a:t>http://</a:t>
            </a:r>
            <a:r>
              <a:rPr lang="en-US" sz="2000" b="1" i="1" dirty="0" err="1">
                <a:solidFill>
                  <a:srgbClr val="FF0000"/>
                </a:solidFill>
              </a:rPr>
              <a:t>tiny.cc</a:t>
            </a:r>
            <a:r>
              <a:rPr lang="en-US" sz="2000" b="1" i="1" dirty="0">
                <a:solidFill>
                  <a:srgbClr val="FF0000"/>
                </a:solidFill>
              </a:rPr>
              <a:t>/moot</a:t>
            </a:r>
          </a:p>
          <a:p>
            <a:endParaRPr lang="en-US" sz="9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C3FC9C-78F1-06FA-FCE4-DC217F06BA9E}"/>
              </a:ext>
            </a:extLst>
          </p:cNvPr>
          <p:cNvSpPr txBox="1"/>
          <p:nvPr/>
        </p:nvSpPr>
        <p:spPr>
          <a:xfrm>
            <a:off x="12839700" y="2260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E79B6-1973-8C33-D617-77D1C7EA1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237" y="-14288"/>
            <a:ext cx="1528763" cy="152876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21FDAB7-FFA8-B236-E17D-F2679B0157DE}"/>
              </a:ext>
            </a:extLst>
          </p:cNvPr>
          <p:cNvCxnSpPr>
            <a:cxnSpLocks/>
          </p:cNvCxnSpPr>
          <p:nvPr/>
        </p:nvCxnSpPr>
        <p:spPr>
          <a:xfrm flipH="1">
            <a:off x="5036747" y="2578494"/>
            <a:ext cx="994610" cy="907740"/>
          </a:xfrm>
          <a:prstGeom prst="line">
            <a:avLst/>
          </a:prstGeom>
          <a:ln w="444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049AFE9D-F24F-2A09-A3CF-276824E4D4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497070" y="2316102"/>
            <a:ext cx="5475229" cy="410642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95726" y="76202"/>
            <a:ext cx="53949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 dirty="0"/>
              <a:t>“as a system evolves, its complexity increases unless work is done to reduce it” — </a:t>
            </a:r>
            <a:r>
              <a:rPr lang="en-US" sz="1600" i="1" dirty="0"/>
              <a:t>L</a:t>
            </a:r>
            <a:r>
              <a:rPr sz="1600" i="1" dirty="0"/>
              <a:t>ehman, 1980</a:t>
            </a:r>
            <a:r>
              <a:rPr sz="2800" b="1">
                <a:solidFill>
                  <a:srgbClr val="EA3323"/>
                </a:solidFill>
              </a:rPr>
              <a:t> [1]</a:t>
            </a:r>
          </a:p>
          <a:p>
            <a:r>
              <a:rPr sz="1600" b="1" dirty="0">
                <a:solidFill>
                  <a:srgbClr val="C00000"/>
                </a:solidFill>
              </a:rPr>
              <a:t>if anyone can do it for $1 … can you do it for a cent?</a:t>
            </a:r>
          </a:p>
        </p:txBody>
      </p:sp>
    </p:spTree>
    <p:extLst>
      <p:ext uri="{BB962C8B-B14F-4D97-AF65-F5344CB8AC3E}">
        <p14:creationId xmlns:p14="http://schemas.microsoft.com/office/powerpoint/2010/main" val="4191622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F0F3A-B98B-80FE-DE58-B26A2C4B0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4577" y="4715685"/>
            <a:ext cx="4670934" cy="4351338"/>
          </a:xfrm>
        </p:spPr>
        <p:txBody>
          <a:bodyPr>
            <a:noAutofit/>
          </a:bodyPr>
          <a:lstStyle/>
          <a:p>
            <a:r>
              <a:rPr lang="en-US" sz="1600" dirty="0">
                <a:solidFill/>
              </a:rPr>
              <a:t>2027:  </a:t>
            </a:r>
            <a:br>
              <a:rPr lang="en-US" sz="1600" dirty="0">
                <a:solidFill/>
              </a:rPr>
            </a:br>
            <a:r>
              <a:rPr lang="en-US" sz="1600" b="1" dirty="0">
                <a:solidFill>
                  <a:srgbClr val="FF0000"/>
                </a:solidFill>
              </a:rPr>
              <a:t>Kishan Ganguly </a:t>
            </a:r>
            <a:r>
              <a:rPr lang="en-US" sz="1600" dirty="0">
                <a:solidFill/>
              </a:rPr>
              <a:t>BINGO (FSE’26); </a:t>
            </a:r>
            <a:br>
              <a:rPr lang="en-US" sz="1600" dirty="0">
                <a:solidFill/>
              </a:rPr>
            </a:br>
            <a:r>
              <a:rPr lang="en-US" sz="1600" b="1" dirty="0">
                <a:solidFill>
                  <a:srgbClr val="FF0000"/>
                </a:solidFill>
              </a:rPr>
              <a:t>Amirali </a:t>
            </a:r>
            <a:r>
              <a:rPr lang="en-US" sz="1600" b="1" dirty="0" err="1">
                <a:solidFill>
                  <a:srgbClr val="FF0000"/>
                </a:solidFill>
              </a:rPr>
              <a:t>Rayegon</a:t>
            </a:r>
            <a:r>
              <a:rPr lang="en-US" sz="1600" b="1" dirty="0">
                <a:solidFill>
                  <a:srgbClr val="FF0000"/>
                </a:solidFill>
              </a:rPr>
              <a:t> </a:t>
            </a:r>
            <a:r>
              <a:rPr lang="en-US" sz="1600" dirty="0">
                <a:solidFill/>
              </a:rPr>
              <a:t>Explanation (JSS’26)</a:t>
            </a:r>
          </a:p>
          <a:p>
            <a:r>
              <a:rPr lang="en-US" sz="1600" dirty="0">
                <a:solidFill/>
              </a:rPr>
              <a:t>2028</a:t>
            </a:r>
            <a:r>
              <a:rPr lang="en-US" sz="1600" b="1" dirty="0">
                <a:solidFill>
                  <a:srgbClr val="FF0000"/>
                </a:solidFill>
              </a:rPr>
              <a:t>: </a:t>
            </a:r>
            <a:br>
              <a:rPr lang="en-US" sz="1600" b="1" dirty="0">
                <a:solidFill>
                  <a:srgbClr val="FF0000"/>
                </a:solidFill>
              </a:rPr>
            </a:br>
            <a:r>
              <a:rPr lang="en-US" sz="1600" b="1" dirty="0">
                <a:solidFill>
                  <a:srgbClr val="FF0000"/>
                </a:solidFill>
              </a:rPr>
              <a:t>Srinath Srinivasan, </a:t>
            </a:r>
            <a:r>
              <a:rPr lang="en-US" sz="1600" dirty="0" err="1">
                <a:solidFill/>
              </a:rPr>
              <a:t>Neurosymbolic</a:t>
            </a:r>
            <a:r>
              <a:rPr lang="en-US" sz="1600" dirty="0">
                <a:solidFill/>
              </a:rPr>
              <a:t> (</a:t>
            </a:r>
            <a:r>
              <a:rPr lang="en-US" sz="1600" dirty="0" err="1">
                <a:solidFill/>
              </a:rPr>
              <a:t>arxiv</a:t>
            </a:r>
            <a:r>
              <a:rPr lang="en-US" sz="1600" dirty="0">
                <a:solidFill/>
              </a:rPr>
              <a:t>)</a:t>
            </a:r>
          </a:p>
          <a:p>
            <a:pPr lvl="1"/>
            <a:endParaRPr lang="en-US" sz="16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ECC6553-71D4-FB50-BB1E-F6F3274D9B52}"/>
              </a:ext>
            </a:extLst>
          </p:cNvPr>
          <p:cNvGrpSpPr/>
          <p:nvPr/>
        </p:nvGrpSpPr>
        <p:grpSpPr>
          <a:xfrm>
            <a:off x="4763896" y="1642687"/>
            <a:ext cx="6513704" cy="2736257"/>
            <a:chOff x="-2438304" y="1763841"/>
            <a:chExt cx="9318735" cy="4235893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46E84D-117B-EC8E-3316-344D1B33C5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5188" y="1763841"/>
              <a:ext cx="6265243" cy="421633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FDC42F1-29DE-187A-304B-BA3DD88ED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834919" y="1783398"/>
              <a:ext cx="1468036" cy="4216336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25E4B37-8C20-9522-E13C-343209DF1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438304" y="1783398"/>
              <a:ext cx="1636646" cy="4216336"/>
            </a:xfrm>
            <a:prstGeom prst="rect">
              <a:avLst/>
            </a:prstGeom>
          </p:spPr>
        </p:pic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EDCC329-95AB-1C4D-8797-D7F8A92AF8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09" y="2150873"/>
            <a:ext cx="4364736" cy="3233487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90E04C7-FE57-9967-0FBF-4AE4AE0A838F}"/>
              </a:ext>
            </a:extLst>
          </p:cNvPr>
          <p:cNvSpPr/>
          <p:nvPr/>
        </p:nvSpPr>
        <p:spPr>
          <a:xfrm>
            <a:off x="589376" y="1656954"/>
            <a:ext cx="3024109" cy="324585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Ssbse’16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BAE4B4-299A-F731-260B-B9F60D749015}"/>
              </a:ext>
            </a:extLst>
          </p:cNvPr>
          <p:cNvSpPr txBox="1"/>
          <p:nvPr/>
        </p:nvSpPr>
        <p:spPr>
          <a:xfrm>
            <a:off x="3659205" y="1551247"/>
            <a:ext cx="6882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EA3323"/>
                </a:solidFill>
              </a:rPr>
              <a:t>[2]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8E0B9BE-1DBD-189D-6D07-B0924FC24EEF}"/>
              </a:ext>
            </a:extLst>
          </p:cNvPr>
          <p:cNvSpPr txBox="1">
            <a:spLocks/>
          </p:cNvSpPr>
          <p:nvPr/>
        </p:nvSpPr>
        <p:spPr>
          <a:xfrm>
            <a:off x="4733664" y="4715685"/>
            <a:ext cx="4024385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/>
              </a:rPr>
              <a:t>2019: </a:t>
            </a:r>
            <a:br>
              <a:rPr lang="en-US" sz="1600" dirty="0">
                <a:solidFill/>
              </a:rPr>
            </a:br>
            <a:r>
              <a:rPr lang="en-US" sz="1600" b="1" dirty="0">
                <a:solidFill>
                  <a:srgbClr val="FF0000"/>
                </a:solidFill>
              </a:rPr>
              <a:t>Amritanshu Agrawal </a:t>
            </a:r>
            <a:r>
              <a:rPr lang="en-US" sz="1600" dirty="0"/>
              <a:t>(Snap); </a:t>
            </a:r>
            <a:br>
              <a:rPr lang="en-US" sz="1600" dirty="0"/>
            </a:br>
            <a:r>
              <a:rPr lang="en-US" sz="1600" b="1" dirty="0">
                <a:solidFill>
                  <a:srgbClr val="FF0000"/>
                </a:solidFill>
              </a:rPr>
              <a:t>Vivek Nair </a:t>
            </a:r>
            <a:r>
              <a:rPr lang="en-US" sz="1600" dirty="0">
                <a:solidFill/>
              </a:rPr>
              <a:t>(Meta)</a:t>
            </a:r>
            <a:br>
              <a:rPr lang="en-US" sz="1600" dirty="0">
                <a:solidFill/>
              </a:rPr>
            </a:br>
            <a:r>
              <a:rPr lang="en-US" sz="1600" dirty="0"/>
              <a:t> </a:t>
            </a:r>
            <a:r>
              <a:rPr lang="en-US" sz="1600" b="1" dirty="0">
                <a:solidFill>
                  <a:srgbClr val="FF0000"/>
                </a:solidFill>
              </a:rPr>
              <a:t>Jianfeng Chen </a:t>
            </a:r>
            <a:r>
              <a:rPr lang="en-US" sz="1600" dirty="0">
                <a:solidFill/>
              </a:rPr>
              <a:t>(Meta)</a:t>
            </a:r>
            <a:endParaRPr lang="en-US" sz="1600" dirty="0">
              <a:solidFill>
                <a:srgbClr val="FF0000"/>
              </a:solidFill>
            </a:endParaRPr>
          </a:p>
          <a:p>
            <a:r>
              <a:rPr lang="en-US" sz="1600" dirty="0">
                <a:solidFill/>
              </a:rPr>
              <a:t>2025: </a:t>
            </a:r>
            <a:br>
              <a:rPr lang="en-US" sz="1600" dirty="0">
                <a:solidFill/>
              </a:rPr>
            </a:br>
            <a:r>
              <a:rPr lang="en-US" sz="1600" b="1" dirty="0">
                <a:solidFill>
                  <a:srgbClr val="FF0000"/>
                </a:solidFill>
              </a:rPr>
              <a:t>Andre Lustosa </a:t>
            </a:r>
            <a:r>
              <a:rPr lang="en-US" sz="1600" dirty="0">
                <a:solidFill/>
              </a:rPr>
              <a:t>(</a:t>
            </a:r>
            <a:r>
              <a:rPr lang="en-US" sz="1600" dirty="0" err="1">
                <a:solidFill/>
              </a:rPr>
              <a:t>Redhat</a:t>
            </a:r>
            <a:r>
              <a:rPr lang="en-US" sz="1600" dirty="0">
                <a:solidFill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24069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68D405-B25C-6FD0-B12D-C1F662BCAD53}"/>
              </a:ext>
            </a:extLst>
          </p:cNvPr>
          <p:cNvSpPr/>
          <p:nvPr/>
        </p:nvSpPr>
        <p:spPr>
          <a:xfrm>
            <a:off x="-138414" y="-113034"/>
            <a:ext cx="12697428" cy="73730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0E9BE-07CD-DF36-75EE-5F8279152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3257"/>
            <a:ext cx="12192000" cy="4351338"/>
          </a:xfrm>
        </p:spPr>
        <p:txBody>
          <a:bodyPr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6500" b="1" dirty="0">
                <a:solidFill>
                  <a:srgbClr val="FF0000"/>
                </a:solidFill>
              </a:rPr>
              <a:t>why easier AI?</a:t>
            </a:r>
            <a:br>
              <a:rPr lang="en-US" sz="6500" b="1" dirty="0">
                <a:solidFill>
                  <a:srgbClr val="FF0000"/>
                </a:solidFill>
              </a:rPr>
            </a:br>
            <a:endParaRPr lang="en-US" sz="6500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US" sz="6500" dirty="0">
                <a:solidFill/>
              </a:rPr>
              <a:t>how to do easier AI?</a:t>
            </a:r>
            <a:br>
              <a:rPr lang="en-US" sz="6500" dirty="0"/>
            </a:br>
            <a:endParaRPr lang="en-US" sz="6500" dirty="0"/>
          </a:p>
          <a:p>
            <a:pPr marL="0" indent="0" algn="ctr">
              <a:buNone/>
            </a:pPr>
            <a:r>
              <a:rPr lang="en-US" sz="6500" dirty="0">
                <a:solidFill/>
              </a:rPr>
              <a:t>why not more of easier AI?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B7C0ED-BBF4-2264-BAFB-4FE3ADDF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7" y="5730283"/>
            <a:ext cx="2260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192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E672-1889-F77C-C2F5-32B625AC5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/>
              </a:rPr>
              <a:t>Q: why easier AI?</a:t>
            </a:r>
            <a:endParaRPr lang="en-US" dirty="0"/>
          </a:p>
          <a:p>
            <a:r>
              <a:rPr dirty="0"/>
              <a:t>A: economics  </a:t>
            </a:r>
            <a:r>
              <a:rPr sz="2800" b="1" dirty="0">
                <a:solidFill>
                  <a:srgbClr val="EA3323"/>
                </a:solidFill>
              </a:rPr>
              <a:t>[3]</a:t>
            </a:r>
            <a:r>
              <a:rPr dirty="0"/>
              <a:t> </a:t>
            </a:r>
            <a:r>
              <a:rPr sz="2800" b="1" dirty="0">
                <a:solidFill>
                  <a:srgbClr val="EA3323"/>
                </a:solidFill>
              </a:rPr>
              <a:t>[4]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55036-DE56-690D-7FD5-C39835196E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669280" cy="503237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/>
              </a:rPr>
              <a:t>Niklaus Wirth:</a:t>
            </a:r>
          </a:p>
          <a:p>
            <a:pPr lvl="1"/>
            <a:r>
              <a:rPr lang="en-US" dirty="0">
                <a:solidFill/>
              </a:rPr>
              <a:t>“Software gets </a:t>
            </a:r>
            <a:r>
              <a:rPr lang="en-US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slower</a:t>
            </a:r>
            <a:r>
              <a:rPr lang="en-US" dirty="0">
                <a:solidFill/>
              </a:rPr>
              <a:t> faster than hardware gets faster”</a:t>
            </a:r>
            <a:br>
              <a:rPr lang="en-US" dirty="0">
                <a:solidFill/>
              </a:rPr>
            </a:br>
            <a:br>
              <a:rPr lang="en-US" dirty="0"/>
            </a:br>
            <a:endParaRPr lang="en-US" dirty="0"/>
          </a:p>
          <a:p>
            <a:r>
              <a:rPr lang="en-US" sz="2400" dirty="0">
                <a:solidFill/>
              </a:rPr>
              <a:t>Even if $/token falls, Jevons paradox: total token burn grows (*10, *100: 2023→2026)</a:t>
            </a:r>
            <a:br>
              <a:rPr lang="en-US" sz="2400" dirty="0">
                <a:solidFill/>
              </a:rPr>
            </a:br>
            <a:endParaRPr lang="en-US" sz="2400" dirty="0">
              <a:solidFill/>
            </a:endParaRPr>
          </a:p>
          <a:p>
            <a:r>
              <a:rPr lang="en-US" sz="2400" dirty="0">
                <a:solidFill/>
              </a:rPr>
              <a:t>Bain 2025 forecast: </a:t>
            </a:r>
          </a:p>
          <a:p>
            <a:pPr lvl="1"/>
            <a:r>
              <a:rPr lang="en-US" dirty="0">
                <a:solidFill/>
              </a:rPr>
              <a:t>$800B/yr revenue gap by 2030</a:t>
            </a:r>
          </a:p>
          <a:p>
            <a:pPr lvl="1"/>
            <a:r>
              <a:rPr lang="en-US" dirty="0">
                <a:solidFill/>
              </a:rPr>
              <a:t>2026 capex ~$725B; 2027 projected &gt;$1T — gap widening</a:t>
            </a:r>
            <a:br>
              <a:rPr lang="en-US" sz="2000" dirty="0"/>
            </a:br>
            <a:endParaRPr lang="en-US" sz="20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2272" y="1948816"/>
            <a:ext cx="5120640" cy="39604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money is one worry … trust is another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436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0E020-8D32-AB5B-E1D5-46FDE60E9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/>
              </a:rPr>
              <a:t>Q: why easier AI?</a:t>
            </a:r>
            <a:br>
              <a:rPr lang="en-US" sz="3600" dirty="0"/>
            </a:br>
            <a:r>
              <a:rPr lang="en-US" sz="3600" dirty="0">
                <a:solidFill/>
              </a:rPr>
              <a:t>A: easier to trust; easier to watch and understand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20DDD2-73F1-3207-802C-FCE73AC76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2" y="1920005"/>
            <a:ext cx="5505203" cy="45728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CE49B7-0A98-7DCC-C7A7-53C8B771139E}"/>
              </a:ext>
            </a:extLst>
          </p:cNvPr>
          <p:cNvSpPr txBox="1"/>
          <p:nvPr/>
        </p:nvSpPr>
        <p:spPr>
          <a:xfrm>
            <a:off x="8383979" y="4690753"/>
            <a:ext cx="1863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cap="all" dirty="0">
                <a:solidFill/>
              </a:rPr>
              <a:t>The </a:t>
            </a:r>
            <a:r>
              <a:rPr lang="en-US" b="1" cap="all" dirty="0">
                <a:solidFill>
                  <a:srgbClr val="FF0000"/>
                </a:solidFill>
              </a:rPr>
              <a:t>Atlantic</a:t>
            </a:r>
          </a:p>
          <a:p>
            <a:r>
              <a:rPr lang="en-US" cap="all" dirty="0">
                <a:solidFill/>
              </a:rPr>
              <a:t>March 17, 2026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and some domains have no choice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9456469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4E6D8-A121-B432-407D-ECBFA2D36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why easier AI?</a:t>
            </a:r>
            <a:br>
              <a:rPr lang="en-US" dirty="0"/>
            </a:br>
            <a:r>
              <a:rPr lang="en-US" dirty="0">
                <a:solidFill/>
              </a:rPr>
              <a:t>A: cause some domains demand it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[5]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D48478-4E80-4FF6-684C-5359C487E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>
                <a:solidFill/>
              </a:rPr>
              <a:t>Green AI</a:t>
            </a:r>
          </a:p>
          <a:p>
            <a:r>
              <a:rPr lang="en-US" sz="2000" dirty="0">
                <a:solidFill/>
              </a:rPr>
              <a:t>global </a:t>
            </a:r>
            <a:r>
              <a:rPr lang="en-US" sz="2000" b="1" dirty="0">
                <a:solidFill>
                  <a:srgbClr val="FF0000"/>
                </a:solidFill>
              </a:rPr>
              <a:t>south</a:t>
            </a:r>
            <a:r>
              <a:rPr lang="en-US" sz="2000" dirty="0">
                <a:solidFill/>
              </a:rPr>
              <a:t> (countries without </a:t>
            </a:r>
            <a:br>
              <a:rPr lang="en-US" sz="2000" dirty="0"/>
            </a:br>
            <a:r>
              <a:rPr lang="en-US" sz="2000" dirty="0">
                <a:solidFill/>
              </a:rPr>
              <a:t>e.g. American-scale infrastructure)</a:t>
            </a:r>
          </a:p>
          <a:p>
            <a:r>
              <a:rPr lang="en-US" sz="2000" dirty="0">
                <a:solidFill/>
              </a:rPr>
              <a:t>resource-constraint  teaching </a:t>
            </a:r>
          </a:p>
          <a:p>
            <a:pPr lvl="1"/>
            <a:r>
              <a:rPr lang="en-US" sz="2000" dirty="0">
                <a:solidFill/>
              </a:rPr>
              <a:t>community colleges, </a:t>
            </a:r>
          </a:p>
          <a:p>
            <a:pPr lvl="1"/>
            <a:r>
              <a:rPr lang="en-US" sz="2000" dirty="0">
                <a:solidFill/>
              </a:rPr>
              <a:t>K–12 CS, </a:t>
            </a:r>
          </a:p>
          <a:p>
            <a:pPr lvl="1"/>
            <a:r>
              <a:rPr lang="en-US" sz="2000" dirty="0">
                <a:solidFill/>
              </a:rPr>
              <a:t>MSIs,</a:t>
            </a:r>
          </a:p>
          <a:p>
            <a:pPr lvl="1"/>
            <a:r>
              <a:rPr lang="en-US" sz="2000" dirty="0">
                <a:solidFill/>
              </a:rPr>
              <a:t> </a:t>
            </a:r>
            <a:r>
              <a:rPr lang="en-US" sz="2000" dirty="0" err="1">
                <a:solidFill/>
              </a:rPr>
              <a:t>thise</a:t>
            </a:r>
            <a:r>
              <a:rPr lang="en-US" sz="2000" dirty="0">
                <a:solidFill/>
              </a:rPr>
              <a:t> using  </a:t>
            </a:r>
            <a:r>
              <a:rPr lang="en-US" sz="2000" b="1" dirty="0">
                <a:solidFill>
                  <a:srgbClr val="FF0000"/>
                </a:solidFill>
              </a:rPr>
              <a:t>personal</a:t>
            </a:r>
            <a:r>
              <a:rPr lang="en-US" sz="2000" dirty="0">
                <a:solidFill/>
              </a:rPr>
              <a:t> hardware</a:t>
            </a:r>
          </a:p>
          <a:p>
            <a:r>
              <a:rPr lang="en-US" sz="2000" dirty="0">
                <a:solidFill/>
              </a:rPr>
              <a:t>privacy-constrained industrial dev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defense</a:t>
            </a:r>
            <a:r>
              <a:rPr lang="en-US" sz="2000" dirty="0">
                <a:solidFill/>
              </a:rPr>
              <a:t>, </a:t>
            </a:r>
          </a:p>
          <a:p>
            <a:pPr lvl="1"/>
            <a:r>
              <a:rPr lang="en-US" sz="2000" dirty="0">
                <a:solidFill/>
              </a:rPr>
              <a:t>regulated healthcare, </a:t>
            </a:r>
          </a:p>
          <a:p>
            <a:pPr lvl="1"/>
            <a:r>
              <a:rPr lang="en-US" sz="2000" dirty="0">
                <a:solidFill/>
              </a:rPr>
              <a:t>financial services, </a:t>
            </a:r>
          </a:p>
          <a:p>
            <a:pPr lvl="1"/>
            <a:r>
              <a:rPr lang="en-US" sz="2000" dirty="0">
                <a:solidFill/>
              </a:rPr>
              <a:t>law firms)</a:t>
            </a:r>
          </a:p>
          <a:p>
            <a:r>
              <a:rPr lang="en-US" sz="2000" dirty="0">
                <a:solidFill/>
              </a:rPr>
              <a:t>air-gapped settings;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edge</a:t>
            </a:r>
            <a:r>
              <a:rPr lang="en-US" sz="2000" dirty="0">
                <a:solidFill/>
              </a:rPr>
              <a:t> or on-device inference</a:t>
            </a:r>
          </a:p>
          <a:p>
            <a:endParaRPr lang="en-US" dirty="0"/>
          </a:p>
        </p:txBody>
      </p:sp>
      <p:pic>
        <p:nvPicPr>
          <p:cNvPr id="3080" name="Picture 8" descr="What is design? - twinbrush">
            <a:extLst>
              <a:ext uri="{FF2B5EF4-FFF2-40B4-BE49-F238E27FC236}">
                <a16:creationId xmlns:a16="http://schemas.microsoft.com/office/drawing/2014/main" id="{84454580-6EE9-27DD-24FC-44AE72789A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3642" y="2349500"/>
            <a:ext cx="7239000" cy="4524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1" name="TextBox 3080"/>
          <p:cNvSpPr txBox="1"/>
          <p:nvPr/>
        </p:nvSpPr>
        <p:spPr>
          <a:xfrm>
            <a:off x="9672638" y="6372225"/>
            <a:ext cx="2214562" cy="30777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even SE itself says “less” →</a:t>
            </a:r>
          </a:p>
        </p:txBody>
      </p:sp>
      <p:sp>
        <p:nvSpPr>
          <p:cNvPr id="3082" name="TextBox 3081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17355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45336-A7C3-21CD-B915-A013B03E7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81" y="365125"/>
            <a:ext cx="10515600" cy="1325563"/>
          </a:xfrm>
        </p:spPr>
        <p:txBody>
          <a:bodyPr/>
          <a:lstStyle/>
          <a:p>
            <a:r>
              <a:rPr lang="en-US" dirty="0">
                <a:solidFill/>
              </a:rPr>
              <a:t>Q: why easier AI?</a:t>
            </a:r>
            <a:br>
              <a:rPr lang="en-US" dirty="0"/>
            </a:br>
            <a:r>
              <a:rPr lang="en-US" dirty="0">
                <a:solidFill/>
              </a:rPr>
              <a:t>A: software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FC82A-4E3B-9122-B7B0-07640495F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5980" y="1825624"/>
            <a:ext cx="8141252" cy="4879975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security</a:t>
            </a:r>
            <a:r>
              <a:rPr lang="en-US" sz="2000" dirty="0">
                <a:solidFill/>
              </a:rPr>
              <a:t>: </a:t>
            </a:r>
          </a:p>
          <a:p>
            <a:pPr lvl="1"/>
            <a:r>
              <a:rPr lang="en-US" sz="2000" dirty="0">
                <a:solidFill/>
              </a:rPr>
              <a:t>modern software = assembly  of pre-made parts (&gt; 80%)</a:t>
            </a:r>
          </a:p>
          <a:p>
            <a:pPr lvl="1"/>
            <a:r>
              <a:rPr lang="en-US" sz="2000" dirty="0">
                <a:solidFill/>
              </a:rPr>
              <a:t>more reuse == more exposure </a:t>
            </a:r>
          </a:p>
          <a:p>
            <a:pPr lvl="1"/>
            <a:r>
              <a:rPr lang="en-US" sz="2000" dirty="0">
                <a:solidFill/>
              </a:rPr>
              <a:t>e.g. left-pad; </a:t>
            </a:r>
            <a:r>
              <a:rPr lang="en-US" sz="2000" dirty="0" err="1">
                <a:solidFill/>
              </a:rPr>
              <a:t>MOVEit</a:t>
            </a:r>
            <a:r>
              <a:rPr lang="en-US" sz="2000" dirty="0">
                <a:solidFill/>
              </a:rPr>
              <a:t> ($12B), </a:t>
            </a:r>
            <a:br>
              <a:rPr lang="en-US" sz="2000" dirty="0"/>
            </a:br>
            <a:r>
              <a:rPr lang="en-US" sz="2000" dirty="0">
                <a:solidFill/>
              </a:rPr>
              <a:t>Falcon ($5B), </a:t>
            </a:r>
            <a:r>
              <a:rPr lang="en-US" sz="2000" dirty="0" err="1">
                <a:solidFill/>
              </a:rPr>
              <a:t>ByBit</a:t>
            </a:r>
            <a:r>
              <a:rPr lang="en-US" sz="2000" dirty="0">
                <a:solidFill/>
              </a:rPr>
              <a:t> (1.4B)  $24B (2025); 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survivability</a:t>
            </a:r>
            <a:r>
              <a:rPr lang="en-US" sz="2000" dirty="0">
                <a:solidFill/>
              </a:rPr>
              <a:t>: e.g. SQLite does not use Berkeley DB.  </a:t>
            </a:r>
          </a:p>
          <a:p>
            <a:pPr lvl="1"/>
            <a:r>
              <a:rPr lang="en-US" sz="2000" dirty="0">
                <a:solidFill/>
              </a:rPr>
              <a:t>Now used on Mars</a:t>
            </a:r>
            <a:br>
              <a:rPr lang="en-US" sz="1600" dirty="0"/>
            </a:br>
            <a:endParaRPr lang="en-US" sz="1600" dirty="0"/>
          </a:p>
          <a:p>
            <a:r>
              <a:rPr lang="en-US" sz="2000" b="1" dirty="0">
                <a:solidFill>
                  <a:srgbClr val="FF0000"/>
                </a:solidFill>
              </a:rPr>
              <a:t>maintainability + reliability:</a:t>
            </a:r>
          </a:p>
          <a:p>
            <a:pPr lvl="1"/>
            <a:r>
              <a:rPr lang="en-US" sz="2000" dirty="0"/>
              <a:t> more loc = more to maintain, more to go wrong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waste</a:t>
            </a:r>
            <a:r>
              <a:rPr lang="en-US" sz="2000" dirty="0">
                <a:solidFill/>
              </a:rPr>
              <a:t>: Most users cannot handle most options </a:t>
            </a:r>
            <a:r>
              <a:rPr lang="en-US" sz="2800" b="1" dirty="0">
                <a:solidFill>
                  <a:srgbClr val="EA3323"/>
                </a:solidFill>
              </a:rPr>
              <a:t>[6]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B8A459-2094-B3D3-933F-37783A99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7232" y="1567350"/>
            <a:ext cx="3011888" cy="25055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49F67D-DF0A-06CD-C3B4-865E51CE9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4001779"/>
            <a:ext cx="3962399" cy="230196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and the data for “big” is running out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557008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5AE73-749D-5AAE-CBA0-505133F8C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why easier AI?</a:t>
            </a:r>
            <a:br>
              <a:rPr lang="en-US" dirty="0"/>
            </a:br>
            <a:r>
              <a:rPr lang="en-US" dirty="0">
                <a:solidFill/>
              </a:rPr>
              <a:t>A: cause “big AI” needs too much data </a:t>
            </a:r>
            <a:r>
              <a:rPr lang="en-US" sz="2800" b="1" dirty="0">
                <a:solidFill>
                  <a:srgbClr val="EA3323"/>
                </a:solidFill>
              </a:rPr>
              <a:t>[7,10]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60D3BA-C0B3-E72F-599D-E93907F63A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543" y="1617340"/>
            <a:ext cx="5946913" cy="52207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besides, more was never always better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8902745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8000A-C80F-30E7-809D-A2BC86997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why easier AI?</a:t>
            </a:r>
            <a:br>
              <a:rPr lang="en-US" dirty="0"/>
            </a:br>
            <a:r>
              <a:rPr lang="en-US" dirty="0">
                <a:solidFill/>
              </a:rPr>
              <a:t>A:  more AI not always better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lang="en-US" sz="2800" b="1" dirty="0">
                <a:solidFill>
                  <a:srgbClr val="EA3323"/>
                </a:solidFill>
              </a:rPr>
              <a:t>[8][9][10]</a:t>
            </a:r>
            <a:endParaRPr sz="2800" b="1" dirty="0">
              <a:solidFill>
                <a:srgbClr val="EA332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E6EA-0EFE-BB08-F5E7-533427D12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lang="en-US" sz="2200" dirty="0">
                <a:solidFill/>
              </a:rPr>
              <a:t>text mining  predicting effort within </a:t>
            </a:r>
            <a:r>
              <a:rPr lang="en-US" sz="2200" b="1" dirty="0">
                <a:solidFill>
                  <a:srgbClr val="FF0000"/>
                </a:solidFill>
              </a:rPr>
              <a:t>agile</a:t>
            </a:r>
            <a:r>
              <a:rPr lang="en-US" sz="2200" dirty="0">
                <a:solidFill/>
              </a:rPr>
              <a:t> projects, </a:t>
            </a:r>
          </a:p>
          <a:p>
            <a:pPr lvl="1"/>
            <a:r>
              <a:rPr lang="en-US" sz="2200" dirty="0">
                <a:solidFill/>
              </a:rPr>
              <a:t>(SVM and TFIDF)  better predictions than deep learners</a:t>
            </a:r>
          </a:p>
          <a:p>
            <a:pPr lvl="1"/>
            <a:r>
              <a:rPr lang="en-US" sz="2200" dirty="0">
                <a:solidFill/>
              </a:rPr>
              <a:t>Runs 100 times faster</a:t>
            </a:r>
            <a:br>
              <a:rPr lang="en-US" sz="2200" dirty="0"/>
            </a:br>
            <a:endParaRPr lang="en-US" sz="2200" dirty="0"/>
          </a:p>
          <a:p>
            <a:r>
              <a:rPr lang="en-US" sz="2200" dirty="0">
                <a:solidFill/>
              </a:rPr>
              <a:t>tree-based models (Random Forest, </a:t>
            </a:r>
            <a:r>
              <a:rPr lang="en-US" sz="2200" dirty="0" err="1">
                <a:solidFill/>
              </a:rPr>
              <a:t>XGBoost</a:t>
            </a:r>
            <a:r>
              <a:rPr lang="en-US" sz="2200" dirty="0">
                <a:solidFill/>
              </a:rPr>
              <a:t>) </a:t>
            </a:r>
          </a:p>
          <a:p>
            <a:pPr lvl="1"/>
            <a:r>
              <a:rPr lang="en-US" sz="2200" dirty="0">
                <a:solidFill/>
              </a:rPr>
              <a:t>consistently </a:t>
            </a:r>
            <a:r>
              <a:rPr lang="en-US" sz="2200" b="1" dirty="0">
                <a:solidFill>
                  <a:srgbClr val="FF0000"/>
                </a:solidFill>
              </a:rPr>
              <a:t>outperform</a:t>
            </a:r>
            <a:r>
              <a:rPr lang="en-US" sz="2200" dirty="0">
                <a:solidFill/>
              </a:rPr>
              <a:t> deep neural networks on  tabular datasets, </a:t>
            </a:r>
          </a:p>
          <a:p>
            <a:pPr lvl="1"/>
            <a:r>
              <a:rPr lang="en-US" sz="2200" dirty="0">
                <a:solidFill/>
              </a:rPr>
              <a:t>especially those with more than 10,000  rows</a:t>
            </a:r>
          </a:p>
          <a:p>
            <a:pPr lvl="1"/>
            <a:endParaRPr lang="en-US" sz="2200" dirty="0">
              <a:solidFill/>
            </a:endParaRPr>
          </a:p>
          <a:p>
            <a:r>
              <a:rPr lang="en-US" sz="2600" dirty="0" err="1">
                <a:solidFill/>
              </a:rPr>
              <a:t>Etc</a:t>
            </a:r>
            <a:r>
              <a:rPr lang="en-US" sz="2600" dirty="0">
                <a:solidFill/>
              </a:rPr>
              <a:t> </a:t>
            </a:r>
            <a:r>
              <a:rPr lang="en-US" sz="2400" b="1" dirty="0">
                <a:solidFill>
                  <a:srgbClr val="EA3323"/>
                </a:solidFill>
              </a:rPr>
              <a:t>[11-14]</a:t>
            </a:r>
            <a:endParaRPr lang="en-US" sz="2600" dirty="0">
              <a:solidFill/>
            </a:endParaRPr>
          </a:p>
          <a:p>
            <a:pPr marL="457200" lvl="1" indent="0">
              <a:buNone/>
            </a:pPr>
            <a:endParaRPr lang="en-US" sz="2200" dirty="0"/>
          </a:p>
        </p:txBody>
      </p:sp>
      <p:sp>
        <p:nvSpPr>
          <p:cNvPr id="5" name="TextBox 4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so: how?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67934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2E8E4-CAE9-65FC-C58A-C1527E3F2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DFDDC6-69B0-8E56-DBE2-01FAFE710B2E}"/>
              </a:ext>
            </a:extLst>
          </p:cNvPr>
          <p:cNvSpPr/>
          <p:nvPr/>
        </p:nvSpPr>
        <p:spPr>
          <a:xfrm>
            <a:off x="-252714" y="-127322"/>
            <a:ext cx="12697428" cy="73730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C6014-18D7-2E7C-DBB6-EE0CD7971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3257"/>
            <a:ext cx="12192000" cy="4351338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500" dirty="0">
                <a:solidFill/>
              </a:rPr>
              <a:t>why easier AI?</a:t>
            </a:r>
            <a:br>
              <a:rPr lang="en-US" sz="6500" dirty="0"/>
            </a:br>
            <a:endParaRPr lang="en-US" sz="6500" dirty="0"/>
          </a:p>
          <a:p>
            <a:pPr marL="0" indent="0" algn="ctr">
              <a:buNone/>
            </a:pPr>
            <a:r>
              <a:rPr lang="en-US" sz="6500" b="1" dirty="0">
                <a:solidFill>
                  <a:srgbClr val="C00000"/>
                </a:solidFill>
              </a:rPr>
              <a:t>how to do easier AI?</a:t>
            </a:r>
            <a:br>
              <a:rPr lang="en-US" sz="6500" b="1" dirty="0"/>
            </a:br>
            <a:endParaRPr lang="en-US" sz="6500" b="1" dirty="0"/>
          </a:p>
          <a:p>
            <a:pPr marL="0" indent="0" algn="ctr">
              <a:buNone/>
            </a:pPr>
            <a:r>
              <a:rPr lang="en-US" sz="6500" dirty="0">
                <a:solidFill/>
              </a:rPr>
              <a:t>why not more of easier AI?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74773D-E311-ADCB-379F-327FFEC4B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537" y="5813949"/>
            <a:ext cx="2260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802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C9E95-7B5C-9F73-6F4E-35F0DA28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how to do easier AI?</a:t>
            </a:r>
            <a:br>
              <a:rPr lang="en-US" dirty="0"/>
            </a:br>
            <a:r>
              <a:rPr lang="en-US" dirty="0">
                <a:solidFill/>
              </a:rPr>
              <a:t>A: so many ways </a:t>
            </a:r>
            <a:r>
              <a:rPr lang="en-US" sz="2800" b="1" dirty="0">
                <a:solidFill>
                  <a:srgbClr val="EA3323"/>
                </a:solidFill>
              </a:rPr>
              <a:t>[15-28]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F52BC-F2B4-9746-B25A-E132D5314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5928"/>
            <a:ext cx="10515600" cy="4964111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>
                <a:solidFill/>
              </a:rPr>
              <a:t>1300:  William of   Ockham: “entities must not be multiplied beyond necessity"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/>
              </a:rPr>
              <a:t>1902, </a:t>
            </a:r>
            <a:r>
              <a:rPr lang="en-US" sz="1800" b="1" dirty="0">
                <a:solidFill>
                  <a:srgbClr val="FF0000"/>
                </a:solidFill>
              </a:rPr>
              <a:t>PCA</a:t>
            </a:r>
            <a:r>
              <a:rPr lang="en-US" sz="1800" dirty="0">
                <a:solidFill/>
              </a:rPr>
              <a:t>: reduce  data to a few principal components 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/>
              </a:rPr>
              <a:t>1974, </a:t>
            </a:r>
            <a:r>
              <a:rPr lang="en-US" sz="1800" b="1" dirty="0">
                <a:solidFill>
                  <a:srgbClr val="FF0000"/>
                </a:solidFill>
              </a:rPr>
              <a:t>Prototypes</a:t>
            </a:r>
            <a:r>
              <a:rPr lang="en-US" sz="1800" dirty="0">
                <a:solidFill/>
              </a:rPr>
              <a:t>: speed up k-NN by reducing rows to a few    exemplars 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/>
              </a:rPr>
              <a:t> 2009, </a:t>
            </a:r>
            <a:r>
              <a:rPr lang="en-US" sz="1800" b="1" dirty="0">
                <a:solidFill>
                  <a:srgbClr val="FF0000"/>
                </a:solidFill>
              </a:rPr>
              <a:t>Active learning</a:t>
            </a:r>
            <a:r>
              <a:rPr lang="en-US" sz="1800" dirty="0">
                <a:solidFill/>
              </a:rPr>
              <a:t>: only use most informative rows   </a:t>
            </a:r>
          </a:p>
          <a:p>
            <a:pPr>
              <a:spcBef>
                <a:spcPts val="600"/>
              </a:spcBef>
            </a:pPr>
            <a:r>
              <a:rPr lang="en-US" sz="1800" dirty="0">
                <a:solidFill/>
              </a:rPr>
              <a:t> 2020s, Distillation: compress large LLM models with little performance loss </a:t>
            </a:r>
          </a:p>
          <a:p>
            <a:pPr>
              <a:spcBef>
                <a:spcPts val="600"/>
              </a:spcBef>
            </a:pPr>
            <a:r>
              <a:rPr lang="en-US" sz="1800" dirty="0" err="1">
                <a:solidFill/>
              </a:rPr>
              <a:t>etc</a:t>
            </a:r>
            <a:endParaRPr lang="en-US" sz="1800" dirty="0">
              <a:solidFill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807254" y="6419088"/>
            <a:ext cx="307994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of all these, </a:t>
            </a:r>
            <a:r>
              <a:rPr lang="en-US" sz="1400" i="1" dirty="0">
                <a:solidFill>
                  <a:srgbClr val="B05000"/>
                </a:solidFill>
              </a:rPr>
              <a:t>focus </a:t>
            </a:r>
            <a:r>
              <a:rPr sz="1400" i="1" dirty="0">
                <a:solidFill>
                  <a:srgbClr val="B05000"/>
                </a:solidFill>
              </a:rPr>
              <a:t>on active learning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11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838FA1-D915-F0EF-E307-FEC3CED37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19" y="3840170"/>
            <a:ext cx="8755353" cy="238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455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E98B-9666-F6A7-1DA1-FABE175B2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/>
              </a:rPr>
              <a:t>Q: how to do easier AI (with active learning)</a:t>
            </a:r>
            <a:br>
              <a:rPr lang="en-US" sz="4000" dirty="0"/>
            </a:br>
            <a:r>
              <a:rPr lang="en-US" sz="4000" dirty="0">
                <a:solidFill/>
              </a:rPr>
              <a:t>A: use current model to decide what’s next</a:t>
            </a:r>
            <a:r>
              <a:rPr sz="4000"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[29]</a:t>
            </a:r>
            <a:endParaRPr sz="2800" b="1" dirty="0">
              <a:solidFill>
                <a:srgbClr val="EA332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F58E5-189A-FEC4-806E-1717581FA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8613"/>
            <a:ext cx="4546600" cy="4351338"/>
          </a:xfrm>
        </p:spPr>
        <p:txBody>
          <a:bodyPr>
            <a:normAutofit/>
          </a:bodyPr>
          <a:lstStyle/>
          <a:p>
            <a:r>
              <a:rPr lang="en-US" sz="2000" dirty="0">
                <a:solidFill/>
              </a:rPr>
              <a:t>E.g. </a:t>
            </a:r>
            <a:r>
              <a:rPr lang="en-US" sz="2000" b="1" dirty="0">
                <a:solidFill>
                  <a:srgbClr val="FF0000"/>
                </a:solidFill>
              </a:rPr>
              <a:t>SMAC3</a:t>
            </a:r>
          </a:p>
          <a:p>
            <a:pPr lvl="1"/>
            <a:r>
              <a:rPr lang="en-US" sz="2000" dirty="0">
                <a:solidFill/>
              </a:rPr>
              <a:t>ensemble of decision trees</a:t>
            </a:r>
          </a:p>
          <a:p>
            <a:pPr lvl="1"/>
            <a:r>
              <a:rPr lang="en-US" sz="2000" dirty="0">
                <a:solidFill/>
              </a:rPr>
              <a:t>Seek  unlabeled examples where </a:t>
            </a:r>
          </a:p>
          <a:p>
            <a:pPr lvl="2"/>
            <a:r>
              <a:rPr lang="en-US" dirty="0">
                <a:solidFill/>
              </a:rPr>
              <a:t>ensemble most disagrees (a.k.a. explore)</a:t>
            </a:r>
          </a:p>
          <a:p>
            <a:pPr lvl="2"/>
            <a:r>
              <a:rPr lang="en-US" b="1" dirty="0">
                <a:solidFill>
                  <a:srgbClr val="FF0000"/>
                </a:solidFill>
              </a:rPr>
              <a:t>ensemble </a:t>
            </a:r>
            <a:r>
              <a:rPr lang="en-US" dirty="0">
                <a:solidFill/>
              </a:rPr>
              <a:t>most agree </a:t>
            </a:r>
            <a:br>
              <a:rPr lang="en-US" dirty="0"/>
            </a:br>
            <a:r>
              <a:rPr lang="en-US" dirty="0">
                <a:solidFill/>
              </a:rPr>
              <a:t>(a.k.a. exploit)</a:t>
            </a:r>
          </a:p>
          <a:p>
            <a:pPr lvl="2"/>
            <a:r>
              <a:rPr lang="en-US" dirty="0">
                <a:solidFill/>
              </a:rPr>
              <a:t>adapt =  </a:t>
            </a:r>
            <a:br>
              <a:rPr lang="en-US" dirty="0"/>
            </a:br>
            <a:r>
              <a:rPr lang="en-US" dirty="0">
                <a:solidFill/>
              </a:rPr>
              <a:t>Slowly shift explore to exploit</a:t>
            </a:r>
          </a:p>
          <a:p>
            <a:r>
              <a:rPr lang="en-US" sz="2000" dirty="0">
                <a:solidFill/>
              </a:rPr>
              <a:t>Cost of SMAC3: </a:t>
            </a:r>
          </a:p>
          <a:p>
            <a:pPr lvl="1"/>
            <a:r>
              <a:rPr lang="en-US" sz="2000" dirty="0">
                <a:solidFill/>
              </a:rPr>
              <a:t>when new data arrives 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rebuilding</a:t>
            </a:r>
            <a:r>
              <a:rPr lang="en-US" sz="2000" dirty="0">
                <a:solidFill/>
              </a:rPr>
              <a:t> the ensemble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102B273-DD0B-1581-F0D4-84EFE45C798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78348" y="1940838"/>
                <a:ext cx="53721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000" dirty="0"/>
                  <a:t>EZR: </a:t>
                </a:r>
                <a:r>
                  <a:rPr lang="en-US" sz="2000" b="1" dirty="0"/>
                  <a:t>pip install </a:t>
                </a:r>
                <a:r>
                  <a:rPr lang="en-US" sz="2000" b="1" dirty="0" err="1"/>
                  <a:t>ezr</a:t>
                </a:r>
                <a:endParaRPr lang="en-US" sz="2000" b="1" dirty="0"/>
              </a:p>
              <a:p>
                <a:r>
                  <a:rPr lang="en-US" sz="2000" dirty="0"/>
                  <a:t>“ensemble” = 2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class</a:t>
                </a:r>
                <a:r>
                  <a:rPr lang="en-US" sz="2000" dirty="0"/>
                  <a:t> Bayes classifier</a:t>
                </a:r>
              </a:p>
              <a:p>
                <a:pPr lvl="1"/>
                <a:r>
                  <a:rPr lang="en-US" sz="2000" dirty="0"/>
                  <a:t>|</a:t>
                </a:r>
                <a:r>
                  <a:rPr lang="en-US" sz="2000" i="1" dirty="0"/>
                  <a:t>Best</a:t>
                </a:r>
                <a:r>
                  <a:rPr lang="en-US" sz="2000" dirty="0"/>
                  <a:t>|,  |</a:t>
                </a:r>
                <a:r>
                  <a:rPr lang="en-US" sz="2000" i="1" dirty="0"/>
                  <a:t>Rest</a:t>
                </a:r>
                <a:r>
                  <a:rPr lang="en-US" sz="2000" dirty="0"/>
                  <a:t>|  =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− </m:t>
                    </m:r>
                    <m:rad>
                      <m:radPr>
                        <m:degHide m:val="on"/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sz="2000" dirty="0"/>
                  <a:t>,</a:t>
                </a:r>
              </a:p>
              <a:p>
                <a:pPr lvl="1"/>
                <a:r>
                  <a:rPr lang="en-US" sz="2000" b="1" dirty="0">
                    <a:solidFill>
                      <a:srgbClr val="FF0000"/>
                    </a:solidFill>
                  </a:rPr>
                  <a:t>next</a:t>
                </a:r>
                <a:r>
                  <a:rPr lang="en-US" sz="2000" dirty="0"/>
                  <a:t> =</a:t>
                </a:r>
              </a:p>
              <a:p>
                <a:pPr lvl="2"/>
                <a:r>
                  <a:rPr lang="en-US" dirty="0"/>
                  <a:t>closest to </a:t>
                </a:r>
                <a:r>
                  <a:rPr lang="en-US" i="1" dirty="0"/>
                  <a:t>Best</a:t>
                </a:r>
              </a:p>
              <a:p>
                <a:pPr lvl="2"/>
                <a:r>
                  <a:rPr lang="en-US" dirty="0"/>
                  <a:t>furthest from </a:t>
                </a:r>
                <a:r>
                  <a:rPr lang="en-US" i="1" dirty="0"/>
                  <a:t>Rest</a:t>
                </a:r>
              </a:p>
              <a:p>
                <a:pPr lvl="1"/>
                <a:r>
                  <a:rPr lang="en-US" sz="2000" dirty="0"/>
                  <a:t>update:</a:t>
                </a:r>
              </a:p>
              <a:p>
                <a:pPr lvl="2"/>
                <a:r>
                  <a:rPr lang="en-US" dirty="0"/>
                  <a:t>add next to </a:t>
                </a:r>
                <a:r>
                  <a:rPr lang="en-US" i="1" dirty="0"/>
                  <a:t>Best</a:t>
                </a:r>
                <a:r>
                  <a:rPr lang="en-US" dirty="0"/>
                  <a:t>, </a:t>
                </a:r>
              </a:p>
              <a:p>
                <a:pPr lvl="2"/>
                <a:r>
                  <a:rPr lang="en-US" dirty="0"/>
                  <a:t>resort </a:t>
                </a:r>
                <a:r>
                  <a:rPr lang="en-US" i="1" dirty="0"/>
                  <a:t>Best</a:t>
                </a:r>
                <a:r>
                  <a:rPr lang="en-US" dirty="0"/>
                  <a:t>, </a:t>
                </a:r>
              </a:p>
              <a:p>
                <a:pPr lvl="2"/>
                <a:r>
                  <a:rPr lang="en-US" b="1" dirty="0">
                    <a:solidFill>
                      <a:srgbClr val="FF0000"/>
                    </a:solidFill>
                  </a:rPr>
                  <a:t>pop</a:t>
                </a:r>
                <a:r>
                  <a:rPr lang="en-US" dirty="0"/>
                  <a:t> worst </a:t>
                </a:r>
                <a:r>
                  <a:rPr lang="en-US" i="1" dirty="0"/>
                  <a:t>Best</a:t>
                </a:r>
                <a:r>
                  <a:rPr lang="en-US" dirty="0"/>
                  <a:t> to </a:t>
                </a:r>
                <a:r>
                  <a:rPr lang="en-US" i="1" dirty="0"/>
                  <a:t>Rest</a:t>
                </a:r>
              </a:p>
              <a:p>
                <a:pPr lvl="1"/>
                <a:r>
                  <a:rPr lang="en-US" sz="2000" dirty="0"/>
                  <a:t>Very fast</a:t>
                </a:r>
              </a:p>
              <a:p>
                <a:pPr lvl="2"/>
                <a:r>
                  <a:rPr lang="en-US" dirty="0"/>
                  <a:t>never sort </a:t>
                </a:r>
                <a:r>
                  <a:rPr lang="en-US" i="1" dirty="0"/>
                  <a:t>Rest</a:t>
                </a:r>
              </a:p>
              <a:p>
                <a:pPr lvl="2"/>
                <a:r>
                  <a:rPr lang="en-US" dirty="0"/>
                  <a:t>Updates to </a:t>
                </a:r>
                <a:r>
                  <a:rPr lang="en-US" i="1" dirty="0"/>
                  <a:t>Best</a:t>
                </a:r>
                <a:r>
                  <a:rPr lang="en-US" dirty="0"/>
                  <a:t> and </a:t>
                </a:r>
                <a:r>
                  <a:rPr lang="en-US" i="1" dirty="0"/>
                  <a:t>Rest </a:t>
                </a:r>
                <a:r>
                  <a:rPr lang="en-US" dirty="0"/>
                  <a:t>are fast.</a:t>
                </a:r>
              </a:p>
              <a:p>
                <a:pPr lvl="2"/>
                <a:endParaRPr lang="en-US" i="1" dirty="0"/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2102B273-DD0B-1581-F0D4-84EFE45C79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78348" y="1940838"/>
                <a:ext cx="5372100" cy="4351338"/>
              </a:xfrm>
              <a:prstGeom prst="rect">
                <a:avLst/>
              </a:prstGeom>
              <a:blipFill>
                <a:blip r:embed="rId2"/>
                <a:stretch>
                  <a:fillRect l="-943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does it work? first: data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37406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B5152-D2F7-EA94-EAA5-DD54753F6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how to test EZR?</a:t>
            </a:r>
            <a:br>
              <a:rPr lang="en-US" dirty="0"/>
            </a:br>
            <a:r>
              <a:rPr lang="en-US" dirty="0">
                <a:solidFill/>
              </a:rPr>
              <a:t>A: read lots of papers, collect their data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[30]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D0817-262C-18C8-3A0F-AD14A6D5ED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7981"/>
            <a:ext cx="3349752" cy="4530725"/>
          </a:xfrm>
        </p:spPr>
        <p:txBody>
          <a:bodyPr>
            <a:noAutofit/>
          </a:bodyPr>
          <a:lstStyle/>
          <a:p>
            <a:r>
              <a:rPr lang="en-US" sz="2000" dirty="0">
                <a:solidFill/>
              </a:rPr>
              <a:t>Recent SBSE</a:t>
            </a:r>
            <a:br>
              <a:rPr lang="en-US" sz="2000" dirty="0"/>
            </a:br>
            <a:r>
              <a:rPr lang="en-US" sz="2000" dirty="0">
                <a:solidFill/>
              </a:rPr>
              <a:t> </a:t>
            </a:r>
            <a:r>
              <a:rPr lang="en-US" sz="2000" b="1" dirty="0">
                <a:solidFill>
                  <a:srgbClr val="FF0000"/>
                </a:solidFill>
              </a:rPr>
              <a:t>papers</a:t>
            </a:r>
            <a:r>
              <a:rPr lang="en-US" sz="2000" dirty="0">
                <a:solidFill/>
              </a:rPr>
              <a:t>: ICSE, FSE, TSE, IST, EMSE, TOSEM, ASE</a:t>
            </a:r>
          </a:p>
          <a:p>
            <a:r>
              <a:rPr lang="en-US" sz="2000" dirty="0">
                <a:solidFill/>
              </a:rPr>
              <a:t>127 data sets</a:t>
            </a:r>
          </a:p>
          <a:p>
            <a:r>
              <a:rPr lang="en-US" sz="2000" dirty="0">
                <a:solidFill/>
              </a:rPr>
              <a:t>3-1044 independent </a:t>
            </a:r>
            <a:br>
              <a:rPr lang="en-US" sz="2000" dirty="0"/>
            </a:br>
            <a:r>
              <a:rPr lang="en-US" sz="2000" b="1" dirty="0">
                <a:solidFill>
                  <a:srgbClr val="FF0000"/>
                </a:solidFill>
              </a:rPr>
              <a:t>x attributes</a:t>
            </a:r>
            <a:r>
              <a:rPr lang="en-US" sz="2000" dirty="0">
                <a:solidFill/>
              </a:rPr>
              <a:t>;</a:t>
            </a:r>
          </a:p>
          <a:p>
            <a:r>
              <a:rPr lang="en-US" sz="2000" dirty="0">
                <a:solidFill/>
              </a:rPr>
              <a:t>1 to 8 dependent </a:t>
            </a:r>
            <a:br>
              <a:rPr lang="en-US" sz="2000" dirty="0"/>
            </a:br>
            <a:r>
              <a:rPr lang="en-US" sz="2000" b="1" dirty="0">
                <a:solidFill>
                  <a:srgbClr val="FF0000"/>
                </a:solidFill>
              </a:rPr>
              <a:t>y attributes</a:t>
            </a:r>
            <a:r>
              <a:rPr lang="en-US" sz="2000" dirty="0">
                <a:solidFill/>
              </a:rPr>
              <a:t> to be minimized or maximized;</a:t>
            </a:r>
          </a:p>
          <a:p>
            <a:r>
              <a:rPr lang="en-US" sz="2000" dirty="0">
                <a:solidFill/>
              </a:rPr>
              <a:t>93 to 100,000 rows.</a:t>
            </a:r>
          </a:p>
          <a:p>
            <a:r>
              <a:rPr lang="en-US" sz="2000" dirty="0">
                <a:solidFill/>
              </a:rPr>
              <a:t>http://</a:t>
            </a:r>
            <a:r>
              <a:rPr lang="en-US" sz="2000" b="1" dirty="0" err="1">
                <a:solidFill>
                  <a:srgbClr val="FF0000"/>
                </a:solidFill>
              </a:rPr>
              <a:t>tiny.cc</a:t>
            </a:r>
            <a:r>
              <a:rPr lang="en-US" sz="2000" b="1" dirty="0">
                <a:solidFill>
                  <a:srgbClr val="FF0000"/>
                </a:solidFill>
              </a:rPr>
              <a:t>/moot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67E3BBC-4219-549F-4965-9BF698092D85}"/>
              </a:ext>
            </a:extLst>
          </p:cNvPr>
          <p:cNvSpPr/>
          <p:nvPr/>
        </p:nvSpPr>
        <p:spPr>
          <a:xfrm>
            <a:off x="1519303" y="5715607"/>
            <a:ext cx="10024872" cy="54609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configuration, performance tuning, product lines, project health, defect prediction,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testing, cost estimation, cross-domain generalization, and text mining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4ACEE95-7632-9A9D-5AED-C1F112B8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816" y="1871980"/>
            <a:ext cx="7698998" cy="339249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… and a score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103230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0CC858-E514-1999-6F82-5E292DDAE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1ACE-8852-DF12-5833-64504F2C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how to score EZR?</a:t>
            </a:r>
            <a:br>
              <a:rPr lang="en-US" dirty="0"/>
            </a:br>
            <a:r>
              <a:rPr lang="en-US" dirty="0">
                <a:solidFill/>
              </a:rPr>
              <a:t>A: win = 1 - normalize(regret)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26817-E287-807B-BE3D-C99E1FA36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78111"/>
            <a:ext cx="11456773" cy="4530725"/>
          </a:xfrm>
        </p:spPr>
        <p:txBody>
          <a:bodyPr>
            <a:noAutofit/>
          </a:bodyPr>
          <a:lstStyle/>
          <a:p>
            <a:r>
              <a:rPr lang="en-US" sz="1800" dirty="0">
                <a:solidFill/>
              </a:rPr>
              <a:t>Distance to </a:t>
            </a:r>
            <a:r>
              <a:rPr lang="en-US" sz="1800" b="1" dirty="0">
                <a:solidFill>
                  <a:srgbClr val="FF0000"/>
                </a:solidFill>
              </a:rPr>
              <a:t>heaven</a:t>
            </a:r>
            <a:r>
              <a:rPr lang="en-US" sz="1800" dirty="0">
                <a:solidFill/>
              </a:rPr>
              <a:t> (aggregate n goals to one)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sz="1800" dirty="0">
                <a:solidFill/>
              </a:rPr>
              <a:t>Regret = (</a:t>
            </a:r>
            <a:r>
              <a:rPr lang="en-US" sz="1800" b="1" dirty="0">
                <a:solidFill>
                  <a:srgbClr val="FF0000"/>
                </a:solidFill>
              </a:rPr>
              <a:t>d2h</a:t>
            </a:r>
            <a:r>
              <a:rPr lang="en-US" sz="1800" dirty="0">
                <a:solidFill/>
              </a:rPr>
              <a:t> – lo) / (mu – lo)</a:t>
            </a:r>
          </a:p>
          <a:p>
            <a:r>
              <a:rPr lang="en-US" sz="1800" dirty="0">
                <a:solidFill/>
              </a:rPr>
              <a:t>Win = int(100 * (1 – regret))</a:t>
            </a:r>
          </a:p>
          <a:p>
            <a:pPr lvl="1"/>
            <a:r>
              <a:rPr lang="en-US" sz="1800" dirty="0">
                <a:solidFill/>
              </a:rPr>
              <a:t>Win=0 </a:t>
            </a:r>
            <a:r>
              <a:rPr lang="en-US" sz="1800" dirty="0">
                <a:solidFill/>
                <a:sym typeface="Wingdings" pitchFamily="2" charset="2"/>
              </a:rPr>
              <a:t> optimizer just finds mu</a:t>
            </a:r>
          </a:p>
          <a:p>
            <a:pPr lvl="2"/>
            <a:r>
              <a:rPr lang="en-US" sz="1800" b="1" dirty="0">
                <a:solidFill>
                  <a:srgbClr val="FF0000"/>
                </a:solidFill>
                <a:sym typeface="Wingdings" pitchFamily="2" charset="2"/>
              </a:rPr>
              <a:t>Failure</a:t>
            </a:r>
          </a:p>
          <a:p>
            <a:pPr lvl="1"/>
            <a:r>
              <a:rPr lang="en-US" sz="1800" dirty="0">
                <a:solidFill/>
                <a:sym typeface="Wingdings" pitchFamily="2" charset="2"/>
              </a:rPr>
              <a:t>Win=100  found reference optimum</a:t>
            </a:r>
          </a:p>
          <a:p>
            <a:pPr lvl="2"/>
            <a:r>
              <a:rPr lang="en-US" sz="1800" dirty="0">
                <a:solidFill/>
                <a:sym typeface="Wingdings" pitchFamily="2" charset="2"/>
              </a:rPr>
              <a:t>Success</a:t>
            </a:r>
          </a:p>
          <a:p>
            <a:r>
              <a:rPr lang="en-US" sz="1800" dirty="0">
                <a:solidFill/>
                <a:sym typeface="Wingdings" pitchFamily="2" charset="2"/>
              </a:rPr>
              <a:t>Build regression tree on </a:t>
            </a:r>
            <a:r>
              <a:rPr lang="en-US" sz="1800" b="1" dirty="0">
                <a:solidFill>
                  <a:srgbClr val="FF0000"/>
                </a:solidFill>
                <a:sym typeface="Wingdings" pitchFamily="2" charset="2"/>
              </a:rPr>
              <a:t>labeled</a:t>
            </a:r>
            <a:r>
              <a:rPr lang="en-US" sz="1800" dirty="0">
                <a:solidFill/>
                <a:sym typeface="Wingdings" pitchFamily="2" charset="2"/>
              </a:rPr>
              <a:t> </a:t>
            </a:r>
            <a:r>
              <a:rPr lang="en-US" sz="1800" dirty="0" err="1">
                <a:solidFill/>
                <a:sym typeface="Wingdings" pitchFamily="2" charset="2"/>
              </a:rPr>
              <a:t>egs</a:t>
            </a:r>
            <a:endParaRPr lang="en-US" sz="1800" dirty="0">
              <a:sym typeface="Wingdings" pitchFamily="2" charset="2"/>
            </a:endParaRPr>
          </a:p>
          <a:p>
            <a:pPr lvl="1"/>
            <a:r>
              <a:rPr lang="en-US" sz="1800" dirty="0">
                <a:solidFill/>
                <a:sym typeface="Wingdings" pitchFamily="2" charset="2"/>
              </a:rPr>
              <a:t>Splitting rows to minimize 𝝈 of win</a:t>
            </a:r>
          </a:p>
          <a:p>
            <a:pPr lvl="1"/>
            <a:r>
              <a:rPr lang="en-US" sz="1800" dirty="0">
                <a:solidFill/>
                <a:sym typeface="Wingdings" pitchFamily="2" charset="2"/>
              </a:rPr>
              <a:t>Reports what takes you towards good or </a:t>
            </a:r>
            <a:r>
              <a:rPr lang="en-US" sz="1800" dirty="0" err="1">
                <a:solidFill/>
                <a:sym typeface="Wingdings" pitchFamily="2" charset="2"/>
              </a:rPr>
              <a:t>bad</a:t>
            </a:r>
            <a:endParaRPr lang="en-US" sz="18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350EFD-6C4D-4E1A-A199-988474450556}"/>
              </a:ext>
            </a:extLst>
          </p:cNvPr>
          <p:cNvSpPr/>
          <p:nvPr/>
        </p:nvSpPr>
        <p:spPr>
          <a:xfrm>
            <a:off x="1433184" y="6163091"/>
            <a:ext cx="7582226" cy="546093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configuration, performance tuning, product lines, project health, defect prediction, </a:t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testing, cost estimation, cross-domain generalization, and text mining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537726-8C77-E3FC-F5F5-ACC713107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40" y="1974367"/>
            <a:ext cx="2743200" cy="11049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CF0EE58-D1C8-13F4-46EC-54663DFFD96E}"/>
              </a:ext>
            </a:extLst>
          </p:cNvPr>
          <p:cNvSpPr txBox="1"/>
          <p:nvPr/>
        </p:nvSpPr>
        <p:spPr>
          <a:xfrm>
            <a:off x="6077577" y="2322586"/>
            <a:ext cx="71658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200" b="1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win     n     </a:t>
            </a:r>
            <a:r>
              <a:rPr lang="en-US" sz="1200" b="1" dirty="0" err="1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Lbs</a:t>
            </a:r>
            <a:r>
              <a:rPr lang="en-US" sz="1200" b="1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-    Acc+    Mpg+ </a:t>
            </a:r>
          </a:p>
          <a:p>
            <a:r>
              <a:rPr lang="en-US" sz="1200" u="sng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8    43   2334.2    16.3    27.4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41    26   2038.7    17.1    30.0.  Volume &lt;= 111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71    10   1871.7    18.1    32.0   |  Volume &lt;= 83</a:t>
            </a:r>
          </a:p>
          <a:p>
            <a:r>
              <a:rPr lang="en-US" sz="1200" dirty="0">
                <a:solidFill>
                  <a:schemeClr val="accent3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✅  </a:t>
            </a:r>
            <a:r>
              <a:rPr lang="en-US" sz="1200" b="1" dirty="0">
                <a:solidFill>
                  <a:schemeClr val="accent3"/>
                </a:solidFill>
                <a:highlight>
                  <a:srgbClr val="00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85     4   1831.7    19.0    32.5    |  |  Model &lt;= 73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62     6   1898.3    17.4    31.7   |  |  Model &gt; 73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22    16   2143.0    16.5    28.7   |  Volume &gt; 83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36     7   2098.1    18.0    28.6   |  |  Model &lt;= 73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12     9   2177.9    15.3    28.9   |  |  Model &gt; 73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26     4   2210.0    15.7    30.0   |  |  |  Volume &gt; 97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 0     5   2152.2    15.0    28.0   |  |  |  Volume &lt;= 97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-41    17   2786.1    15.1    23.5  Volume &gt; 111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 -9     5   2279.8    14.6    28.0   |  Volume &lt;= 116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-54    12   2997.1    15.3    21.7   |  Volume &gt; 116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-44     8   2921.1    15.8    22.5   |  |  Model &gt; 73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-38     4   2563.0    14.0    25.0   |  |  |  </a:t>
            </a:r>
            <a:r>
              <a:rPr lang="en-US" sz="1200" dirty="0" err="1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Clndrs</a:t>
            </a:r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&lt;= 4</a:t>
            </a:r>
          </a:p>
          <a:p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  -50     4   3279.2    17.4    20.0   |  |  |  </a:t>
            </a:r>
            <a:r>
              <a:rPr lang="en-US" sz="1200" dirty="0" err="1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Clndrs</a:t>
            </a:r>
            <a:r>
              <a:rPr lang="en-US" sz="1200" dirty="0">
                <a:solidFill/>
                <a:latin typeface="Courier New" panose="02070309020205020404" pitchFamily="49" charset="0"/>
                <a:cs typeface="Courier New" panose="02070309020205020404" pitchFamily="49" charset="0"/>
              </a:rPr>
              <a:t> &gt; 4</a:t>
            </a:r>
          </a:p>
          <a:p>
            <a:r>
              <a:rPr lang="en-US" sz="1200" dirty="0">
                <a:solidFill/>
                <a:highlight>
                  <a:srgbClr val="FF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❌ -</a:t>
            </a:r>
            <a:r>
              <a:rPr lang="en-US" sz="1200" b="1" dirty="0">
                <a:solidFill/>
                <a:highlight>
                  <a:srgbClr val="FF00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75     4   3149.0    14.4    20.0   |  |  Model &lt;= 73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BDCA5E4-23FC-4B74-97A4-B336B49A66DF}"/>
              </a:ext>
            </a:extLst>
          </p:cNvPr>
          <p:cNvCxnSpPr>
            <a:cxnSpLocks/>
          </p:cNvCxnSpPr>
          <p:nvPr/>
        </p:nvCxnSpPr>
        <p:spPr>
          <a:xfrm>
            <a:off x="9625776" y="2519361"/>
            <a:ext cx="0" cy="32195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58288" y="6419088"/>
            <a:ext cx="27289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so how well does it generalize?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985585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408A-769B-C166-8750-B8F6BE72D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/>
              </a:rPr>
              <a:t>Q: how well does EZR generalize?</a:t>
            </a:r>
            <a:br>
              <a:rPr lang="en-US" dirty="0"/>
            </a:br>
            <a:r>
              <a:rPr lang="en-US" dirty="0">
                <a:solidFill/>
              </a:rPr>
              <a:t>A: sort holdout via tree, check first few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0FFA8-F844-3192-D8F6-5D984A427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720" y="2195689"/>
            <a:ext cx="4399344" cy="4351338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100,000 </a:t>
            </a:r>
            <a:r>
              <a:rPr lang="en-US" sz="1800" dirty="0">
                <a:solidFill/>
              </a:rPr>
              <a:t>times </a:t>
            </a:r>
          </a:p>
          <a:p>
            <a:pPr lvl="1"/>
            <a:r>
              <a:rPr lang="en-US" sz="1800" dirty="0">
                <a:solidFill/>
              </a:rPr>
              <a:t>pick any MOOT data set</a:t>
            </a:r>
          </a:p>
          <a:p>
            <a:pPr lvl="1"/>
            <a:r>
              <a:rPr lang="en-US" sz="1800" dirty="0">
                <a:solidFill/>
              </a:rPr>
              <a:t>Train:</a:t>
            </a:r>
          </a:p>
          <a:p>
            <a:pPr lvl="2"/>
            <a:r>
              <a:rPr lang="en-US" sz="1800" dirty="0">
                <a:solidFill/>
              </a:rPr>
              <a:t>Active learning, labeling y rows with a </a:t>
            </a:r>
            <a:r>
              <a:rPr lang="en-US" sz="1800" b="1" dirty="0">
                <a:solidFill>
                  <a:srgbClr val="FF0000"/>
                </a:solidFill>
              </a:rPr>
              <a:t>limited</a:t>
            </a:r>
            <a:r>
              <a:rPr lang="en-US" sz="1800" dirty="0">
                <a:solidFill/>
              </a:rPr>
              <a:t> budget.</a:t>
            </a:r>
          </a:p>
          <a:p>
            <a:pPr lvl="2"/>
            <a:r>
              <a:rPr lang="en-US" sz="1800" dirty="0">
                <a:solidFill/>
              </a:rPr>
              <a:t>Build tree from labels</a:t>
            </a:r>
          </a:p>
          <a:p>
            <a:pPr lvl="1"/>
            <a:r>
              <a:rPr lang="en-US" sz="1800" dirty="0">
                <a:solidFill/>
              </a:rPr>
              <a:t>Test:</a:t>
            </a:r>
          </a:p>
          <a:p>
            <a:pPr lvl="2"/>
            <a:r>
              <a:rPr lang="en-US" sz="1800" dirty="0">
                <a:solidFill/>
              </a:rPr>
              <a:t>Use tree to sort holdout</a:t>
            </a:r>
          </a:p>
          <a:p>
            <a:pPr lvl="2"/>
            <a:r>
              <a:rPr lang="en-US" sz="1800" b="1" dirty="0">
                <a:solidFill>
                  <a:srgbClr val="FF0000"/>
                </a:solidFill>
              </a:rPr>
              <a:t>Check</a:t>
            </a:r>
            <a:r>
              <a:rPr lang="en-US" sz="1800" dirty="0">
                <a:solidFill/>
              </a:rPr>
              <a:t> first few</a:t>
            </a:r>
          </a:p>
          <a:p>
            <a:r>
              <a:rPr lang="en-US" sz="1800" dirty="0">
                <a:solidFill/>
              </a:rPr>
              <a:t>Active learning,  very effective</a:t>
            </a:r>
          </a:p>
          <a:p>
            <a:pPr lvl="1"/>
            <a:r>
              <a:rPr lang="en-US" sz="1800" dirty="0">
                <a:solidFill/>
              </a:rPr>
              <a:t>Label 50 rows</a:t>
            </a:r>
          </a:p>
          <a:p>
            <a:pPr lvl="1"/>
            <a:r>
              <a:rPr lang="en-US" sz="1800" dirty="0">
                <a:solidFill/>
              </a:rPr>
              <a:t>Check 5</a:t>
            </a:r>
          </a:p>
          <a:p>
            <a:pPr lvl="1"/>
            <a:r>
              <a:rPr lang="en-US" sz="1800" b="1" dirty="0">
                <a:solidFill>
                  <a:srgbClr val="FF0000"/>
                </a:solidFill>
              </a:rPr>
              <a:t>Achieve</a:t>
            </a:r>
            <a:r>
              <a:rPr lang="en-US" sz="1800" dirty="0">
                <a:solidFill/>
              </a:rPr>
              <a:t> 85% of best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A3DBE3-AC54-4C3A-A6CF-EDF66F7EE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375" y="2800116"/>
            <a:ext cx="6895658" cy="3025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D0104D6-3DC6-64E6-11B2-3ECE95876079}"/>
              </a:ext>
            </a:extLst>
          </p:cNvPr>
          <p:cNvSpPr txBox="1"/>
          <p:nvPr/>
        </p:nvSpPr>
        <p:spPr>
          <a:xfrm>
            <a:off x="838200" y="1691404"/>
            <a:ext cx="6099858" cy="369332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</a:rPr>
              <a:t>Win = int(100 * (1 – regret))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8DC4EB-C88B-6DCB-FC3B-CA8B284E1711}"/>
              </a:ext>
            </a:extLst>
          </p:cNvPr>
          <p:cNvSpPr txBox="1"/>
          <p:nvPr/>
        </p:nvSpPr>
        <p:spPr>
          <a:xfrm>
            <a:off x="4171620" y="5778128"/>
            <a:ext cx="7866413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This entire 100,000-experiment study: one laptop, 2 hours, no cluster, no cloud bill.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and how fast? →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6824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DEB1473-3781-4BFB-64BB-FCCCDFEBDEF2}"/>
              </a:ext>
            </a:extLst>
          </p:cNvPr>
          <p:cNvSpPr/>
          <p:nvPr/>
        </p:nvSpPr>
        <p:spPr>
          <a:xfrm>
            <a:off x="9615488" y="-557213"/>
            <a:ext cx="2743200" cy="22479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2CDCC-D0E4-27BC-1D3C-F2759CF1A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/>
              </a:rPr>
              <a:t>Q: how fast and effective </a:t>
            </a:r>
            <a:br>
              <a:rPr lang="en-US" dirty="0"/>
            </a:br>
            <a:r>
              <a:rPr lang="en-US" dirty="0">
                <a:solidFill/>
              </a:rPr>
              <a:t>    are EZR’s trees?</a:t>
            </a:r>
            <a:br>
              <a:rPr lang="en-US" dirty="0"/>
            </a:br>
            <a:r>
              <a:rPr lang="en-US" dirty="0">
                <a:solidFill/>
              </a:rPr>
              <a:t>A: very and very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[32]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73A2D0-5762-A6EF-6073-1FCE7D7DB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3728" y="2252983"/>
            <a:ext cx="5128627" cy="3355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1EEDD0-7F77-2DB0-92BC-A0FA37AE79FF}"/>
              </a:ext>
            </a:extLst>
          </p:cNvPr>
          <p:cNvSpPr txBox="1"/>
          <p:nvPr/>
        </p:nvSpPr>
        <p:spPr>
          <a:xfrm>
            <a:off x="6697845" y="5831773"/>
            <a:ext cx="5494155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e.g. NSGA-II needs 1000 samples for what EZR reaches in 50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86CA8F-7177-780A-8C77-2AFAFEF3841C}"/>
              </a:ext>
            </a:extLst>
          </p:cNvPr>
          <p:cNvSpPr/>
          <p:nvPr/>
        </p:nvSpPr>
        <p:spPr>
          <a:xfrm>
            <a:off x="238957" y="3353461"/>
            <a:ext cx="578204" cy="34724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ms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3C3B6-ED8C-E212-4070-A8FD021DCD81}"/>
              </a:ext>
            </a:extLst>
          </p:cNvPr>
          <p:cNvSpPr txBox="1"/>
          <p:nvPr/>
        </p:nvSpPr>
        <p:spPr>
          <a:xfrm>
            <a:off x="838200" y="5868306"/>
            <a:ext cx="5494155" cy="338554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500x less CPU = 500x less energy. every run.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6582" y="6570171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and are the models small enough to explain? →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21ACF1-049F-B783-6B71-52C175636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1940" y="265352"/>
            <a:ext cx="3625964" cy="556642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41970929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5AE0D-4895-85C4-5DF7-17F17D89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how big are EZR’s models?</a:t>
            </a:r>
            <a:br>
              <a:rPr lang="en-US" dirty="0"/>
            </a:br>
            <a:r>
              <a:rPr lang="en-US" dirty="0">
                <a:solidFill/>
              </a:rPr>
              <a:t>A: surprisingly small 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 dirty="0">
                <a:solidFill>
                  <a:srgbClr val="EA3323"/>
                </a:solidFill>
              </a:rPr>
              <a:t> [3</a:t>
            </a:r>
            <a:r>
              <a:rPr lang="en-US" sz="2800" b="1" dirty="0">
                <a:solidFill>
                  <a:srgbClr val="EA3323"/>
                </a:solidFill>
              </a:rPr>
              <a:t>3</a:t>
            </a:r>
            <a:r>
              <a:rPr sz="2800" b="1" dirty="0">
                <a:solidFill>
                  <a:srgbClr val="EA3323"/>
                </a:solidFill>
              </a:rPr>
              <a:t>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00F955-71E2-CD6D-7027-65498D27E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61" y="2132269"/>
            <a:ext cx="11058042" cy="36897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A03C57-44B7-507C-5D18-E5000E2699B2}"/>
              </a:ext>
            </a:extLst>
          </p:cNvPr>
          <p:cNvSpPr txBox="1"/>
          <p:nvPr/>
        </p:nvSpPr>
        <p:spPr>
          <a:xfrm>
            <a:off x="7756582" y="6570171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 dirty="0">
                <a:solidFill>
                  <a:srgbClr val="B05000"/>
                </a:solidFill>
              </a:rPr>
              <a:t>and are the models small enough to explain?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940716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719C-2F72-29E4-7AD2-06DA9ACB5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/>
              </a:rPr>
              <a:t>Q: so is EZR useful for explanation?</a:t>
            </a:r>
            <a:br>
              <a:rPr lang="en-US" sz="4000" dirty="0"/>
            </a:br>
            <a:r>
              <a:rPr lang="en-US" sz="4000" dirty="0">
                <a:solidFill/>
              </a:rPr>
              <a:t>A: EZR’s trees competitive with SOTA </a:t>
            </a:r>
            <a:r>
              <a:rPr sz="4000" b="1" dirty="0">
                <a:solidFill>
                  <a:srgbClr val="EA3323"/>
                </a:solidFill>
              </a:rPr>
              <a:t> </a:t>
            </a:r>
            <a:r>
              <a:rPr sz="2800" b="1" dirty="0">
                <a:solidFill>
                  <a:srgbClr val="EA3323"/>
                </a:solidFill>
              </a:rPr>
              <a:t> [33] </a:t>
            </a:r>
            <a:r>
              <a:rPr lang="en-US" sz="2800" b="1" dirty="0">
                <a:solidFill>
                  <a:srgbClr val="EA3323"/>
                </a:solidFill>
              </a:rPr>
              <a:t> </a:t>
            </a:r>
            <a:endParaRPr sz="2800" b="1" dirty="0">
              <a:solidFill>
                <a:srgbClr val="EA332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DCCEA-984A-6722-D773-B7FD4AFF5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0875" y="1860349"/>
            <a:ext cx="4806006" cy="4861125"/>
          </a:xfrm>
        </p:spPr>
        <p:txBody>
          <a:bodyPr>
            <a:normAutofit fontScale="70000" lnSpcReduction="20000"/>
          </a:bodyPr>
          <a:lstStyle/>
          <a:p>
            <a:r>
              <a:rPr lang="en-US" sz="2600" dirty="0">
                <a:solidFill/>
              </a:rPr>
              <a:t>Build trees using N </a:t>
            </a:r>
            <a:r>
              <a:rPr lang="en-US" sz="2600" b="1" dirty="0">
                <a:solidFill>
                  <a:srgbClr val="FF0000"/>
                </a:solidFill>
              </a:rPr>
              <a:t>attributes</a:t>
            </a:r>
          </a:p>
          <a:p>
            <a:r>
              <a:rPr lang="en-US" sz="2600" dirty="0">
                <a:solidFill/>
              </a:rPr>
              <a:t>N= #attributes used in EZR’s tree </a:t>
            </a:r>
          </a:p>
          <a:p>
            <a:r>
              <a:rPr lang="en-US" sz="2600" dirty="0">
                <a:solidFill/>
              </a:rPr>
              <a:t>Using other tools: select </a:t>
            </a:r>
            <a:r>
              <a:rPr lang="en-US" sz="2600" b="1" dirty="0">
                <a:solidFill>
                  <a:srgbClr val="FF0000"/>
                </a:solidFill>
              </a:rPr>
              <a:t>top</a:t>
            </a:r>
            <a:r>
              <a:rPr lang="en-US" sz="2600" dirty="0">
                <a:solidFill/>
              </a:rPr>
              <a:t> N attributes</a:t>
            </a:r>
            <a:br>
              <a:rPr lang="en-US" sz="2600" dirty="0">
                <a:solidFill/>
              </a:rPr>
            </a:br>
            <a:endParaRPr lang="en-US" sz="2600" dirty="0"/>
          </a:p>
          <a:p>
            <a:r>
              <a:rPr lang="en-US" sz="2600" dirty="0">
                <a:solidFill/>
              </a:rPr>
              <a:t>White = tied best</a:t>
            </a:r>
          </a:p>
          <a:p>
            <a:r>
              <a:rPr lang="en-US" sz="2600" dirty="0">
                <a:solidFill/>
              </a:rPr>
              <a:t>Blue = within </a:t>
            </a:r>
            <a:r>
              <a:rPr lang="en-US" sz="2600" b="1" dirty="0">
                <a:solidFill>
                  <a:srgbClr val="FF0000"/>
                </a:solidFill>
              </a:rPr>
              <a:t>top</a:t>
            </a:r>
            <a:r>
              <a:rPr lang="en-US" sz="2600" dirty="0">
                <a:solidFill/>
              </a:rPr>
              <a:t> 90%</a:t>
            </a:r>
          </a:p>
          <a:p>
            <a:r>
              <a:rPr lang="en-US" sz="2600" dirty="0">
                <a:solidFill/>
              </a:rPr>
              <a:t>Yellow = within top 75%</a:t>
            </a:r>
          </a:p>
          <a:p>
            <a:r>
              <a:rPr lang="en-US" sz="2600" dirty="0">
                <a:solidFill/>
              </a:rPr>
              <a:t>EZR goes a long way</a:t>
            </a:r>
          </a:p>
          <a:p>
            <a:pPr lvl="1"/>
            <a:r>
              <a:rPr lang="en-US" sz="2600" dirty="0">
                <a:solidFill/>
              </a:rPr>
              <a:t>E.g. last row</a:t>
            </a:r>
          </a:p>
          <a:p>
            <a:pPr lvl="1"/>
            <a:r>
              <a:rPr lang="en-US" sz="2600" dirty="0">
                <a:solidFill/>
              </a:rPr>
              <a:t>For a </a:t>
            </a:r>
            <a:r>
              <a:rPr lang="en-US" sz="2600" b="1" dirty="0">
                <a:solidFill>
                  <a:srgbClr val="FF0000"/>
                </a:solidFill>
              </a:rPr>
              <a:t>3 goal </a:t>
            </a:r>
            <a:r>
              <a:rPr lang="en-US" sz="2600" dirty="0">
                <a:solidFill/>
              </a:rPr>
              <a:t>task</a:t>
            </a:r>
          </a:p>
          <a:p>
            <a:pPr lvl="2"/>
            <a:r>
              <a:rPr lang="en-US" sz="2600" dirty="0">
                <a:solidFill/>
              </a:rPr>
              <a:t>EZR uses 7 / 1044 attributes</a:t>
            </a:r>
          </a:p>
          <a:p>
            <a:pPr lvl="2"/>
            <a:r>
              <a:rPr lang="en-US" sz="2600" dirty="0">
                <a:solidFill/>
              </a:rPr>
              <a:t>EZR uses 150 rows</a:t>
            </a:r>
          </a:p>
          <a:p>
            <a:pPr lvl="2"/>
            <a:r>
              <a:rPr lang="en-US" sz="2600" dirty="0">
                <a:solidFill/>
              </a:rPr>
              <a:t>Arguably competitive</a:t>
            </a:r>
          </a:p>
          <a:p>
            <a:pPr marL="0" indent="0">
              <a:buNone/>
            </a:pPr>
            <a:endParaRPr lang="en-US" sz="2000" dirty="0"/>
          </a:p>
          <a:p>
            <a:r>
              <a:rPr b="1" dirty="0"/>
              <a:t>across 127 datasets: trees use </a:t>
            </a:r>
            <a:endParaRPr lang="en-US" b="1" dirty="0"/>
          </a:p>
          <a:p>
            <a:r>
              <a:rPr b="1" dirty="0"/>
              <a:t>4–9 of up to 1044 attributes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F065CA-1C5D-2334-6944-837662BDA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3721" y="1677657"/>
            <a:ext cx="6566704" cy="4146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C83388-9CF5-6D83-7997-F2653AD44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065" y="2271273"/>
            <a:ext cx="5954210" cy="40103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so why isn’t everyone doing this?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5976239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DFD9-86BA-94F0-943C-49695B2D0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/>
              </a:rPr>
              <a:t>Q: what does EZR say about LLMs?</a:t>
            </a:r>
            <a:br>
              <a:rPr lang="en-US" sz="4000" dirty="0"/>
            </a:br>
            <a:r>
              <a:rPr lang="en-US" sz="4000" dirty="0">
                <a:solidFill/>
              </a:rPr>
              <a:t>A: LLMs rarely tested against simpler tool  </a:t>
            </a:r>
            <a:r>
              <a:rPr sz="2800" b="1" dirty="0">
                <a:solidFill>
                  <a:srgbClr val="EA3323"/>
                </a:solidFill>
              </a:rPr>
              <a:t> [3</a:t>
            </a:r>
            <a:r>
              <a:rPr lang="en-US" sz="2800" b="1" dirty="0">
                <a:solidFill>
                  <a:srgbClr val="EA3323"/>
                </a:solidFill>
              </a:rPr>
              <a:t>4</a:t>
            </a:r>
            <a:r>
              <a:rPr sz="2800" b="1" dirty="0">
                <a:solidFill>
                  <a:srgbClr val="EA3323"/>
                </a:solidFill>
              </a:rPr>
              <a:t>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375272-93CF-E213-207F-1DD925E2A8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/>
              </a:rPr>
              <a:t>Search google scholar for </a:t>
            </a:r>
            <a:r>
              <a:rPr lang="en-US" b="1" dirty="0">
                <a:solidFill>
                  <a:srgbClr val="FF0000"/>
                </a:solidFill>
              </a:rPr>
              <a:t>relevant</a:t>
            </a:r>
            <a:r>
              <a:rPr lang="en-US" dirty="0">
                <a:solidFill/>
              </a:rPr>
              <a:t> research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F0DA81-FD15-9D00-6AE7-3E45CEFED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7227" y="2362723"/>
            <a:ext cx="10253370" cy="43513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648014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D5657-0A4C-BA0B-5021-FE78C3972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F4FB5E7-5E41-9FCD-CF62-D33824FFE591}"/>
              </a:ext>
            </a:extLst>
          </p:cNvPr>
          <p:cNvSpPr/>
          <p:nvPr/>
        </p:nvSpPr>
        <p:spPr>
          <a:xfrm>
            <a:off x="-252714" y="-127322"/>
            <a:ext cx="12697428" cy="73730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7A9E2-21FF-36EF-37B8-47448CA3F9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3257"/>
            <a:ext cx="12192000" cy="4351338"/>
          </a:xfrm>
        </p:spPr>
        <p:txBody>
          <a:bodyPr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6500" dirty="0">
                <a:solidFill/>
              </a:rPr>
              <a:t>why easier AI?</a:t>
            </a:r>
            <a:br>
              <a:rPr lang="en-US" sz="6500" dirty="0"/>
            </a:br>
            <a:endParaRPr lang="en-US" sz="6500" dirty="0"/>
          </a:p>
          <a:p>
            <a:pPr marL="0" indent="0" algn="ctr">
              <a:buNone/>
            </a:pPr>
            <a:r>
              <a:rPr lang="en-US" sz="6500" dirty="0">
                <a:solidFill/>
              </a:rPr>
              <a:t>how to do easier AI?</a:t>
            </a:r>
            <a:br>
              <a:rPr lang="en-US" sz="6500" dirty="0"/>
            </a:br>
            <a:endParaRPr lang="en-US" sz="6500" dirty="0"/>
          </a:p>
          <a:p>
            <a:pPr marL="0" indent="0" algn="ctr">
              <a:buNone/>
            </a:pPr>
            <a:r>
              <a:rPr lang="en-US" sz="6500" b="1" dirty="0">
                <a:solidFill>
                  <a:srgbClr val="C00000"/>
                </a:solidFill>
              </a:rPr>
              <a:t>why not more of easier AI?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C61D00-DEFA-7C07-031A-53F505948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3" y="5851525"/>
            <a:ext cx="2260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435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284A5-F5F8-65E5-4181-38D1E6540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/>
              </a:rPr>
              <a:t>Q: if so good, why not more easier AI? </a:t>
            </a:r>
            <a:br>
              <a:rPr lang="en-US" dirty="0"/>
            </a:br>
            <a:r>
              <a:rPr lang="en-US" dirty="0">
                <a:solidFill/>
              </a:rPr>
              <a:t>A: (weak) empirical standards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[34] [35]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FE932-A8D5-C73F-54D0-25B8BDE93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40" y="2111930"/>
            <a:ext cx="7515198" cy="3944385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/>
              </a:rPr>
              <a:t>In a survey of 229 SE papers on </a:t>
            </a:r>
            <a:r>
              <a:rPr lang="en-US" sz="2400" b="1" dirty="0">
                <a:solidFill>
                  <a:srgbClr val="FF0000"/>
                </a:solidFill>
              </a:rPr>
              <a:t>LLMs in SE</a:t>
            </a:r>
          </a:p>
          <a:p>
            <a:pPr lvl="1"/>
            <a:r>
              <a:rPr lang="en-US" dirty="0">
                <a:solidFill/>
              </a:rPr>
              <a:t>Only 5% compared to simpler approaches</a:t>
            </a:r>
            <a:br>
              <a:rPr lang="en-US" dirty="0"/>
            </a:br>
            <a:endParaRPr lang="en-US" dirty="0"/>
          </a:p>
          <a:p>
            <a:r>
              <a:rPr lang="en-US" sz="2400" b="1" dirty="0">
                <a:solidFill>
                  <a:srgbClr val="FF0000"/>
                </a:solidFill>
              </a:rPr>
              <a:t>Methodological</a:t>
            </a:r>
            <a:r>
              <a:rPr lang="en-US" sz="2400" dirty="0">
                <a:solidFill/>
              </a:rPr>
              <a:t> error </a:t>
            </a:r>
          </a:p>
          <a:p>
            <a:pPr lvl="1"/>
            <a:r>
              <a:rPr lang="en-US" dirty="0">
                <a:solidFill/>
              </a:rPr>
              <a:t>Other methods can produce results that are better and/or </a:t>
            </a:r>
            <a:r>
              <a:rPr lang="en-US" b="1" dirty="0">
                <a:solidFill>
                  <a:srgbClr val="FF0000"/>
                </a:solidFill>
              </a:rPr>
              <a:t>faster</a:t>
            </a:r>
          </a:p>
          <a:p>
            <a:pPr lvl="2"/>
            <a:r>
              <a:rPr lang="en-US" sz="2400" dirty="0">
                <a:solidFill/>
              </a:rPr>
              <a:t>(See above)</a:t>
            </a:r>
          </a:p>
          <a:p>
            <a:pPr lvl="2"/>
            <a:endParaRPr lang="en-US" sz="2400" dirty="0"/>
          </a:p>
          <a:p>
            <a:r>
              <a:rPr lang="en-US" sz="2400" dirty="0">
                <a:solidFill/>
              </a:rPr>
              <a:t>My career:</a:t>
            </a:r>
          </a:p>
          <a:p>
            <a:pPr lvl="1"/>
            <a:r>
              <a:rPr lang="en-US" dirty="0">
                <a:solidFill/>
              </a:rPr>
              <a:t>Step 1: compare ”it” vs a </a:t>
            </a:r>
            <a:r>
              <a:rPr lang="en-US" b="1" dirty="0">
                <a:solidFill>
                  <a:srgbClr val="FF0000"/>
                </a:solidFill>
              </a:rPr>
              <a:t>stupider</a:t>
            </a:r>
            <a:r>
              <a:rPr lang="en-US" dirty="0">
                <a:solidFill/>
              </a:rPr>
              <a:t> straw man</a:t>
            </a:r>
          </a:p>
          <a:p>
            <a:pPr lvl="1"/>
            <a:r>
              <a:rPr lang="en-US" dirty="0">
                <a:solidFill/>
              </a:rPr>
              <a:t>Step 2: throw “it” away,  use the straw man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The Burning Man Fallacy - 3 Quarks Daily">
            <a:extLst>
              <a:ext uri="{FF2B5EF4-FFF2-40B4-BE49-F238E27FC236}">
                <a16:creationId xmlns:a16="http://schemas.microsoft.com/office/drawing/2014/main" id="{E8A04760-4A78-F40A-1EA1-CC8590C3B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8706" y="1690687"/>
            <a:ext cx="3170384" cy="4728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1" name="TextBox 2050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also, the new toys are seductive →</a:t>
            </a:r>
          </a:p>
        </p:txBody>
      </p:sp>
      <p:sp>
        <p:nvSpPr>
          <p:cNvPr id="2052" name="TextBox 2051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398671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341C4-544D-6FAB-85FA-AE669586F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46" y="36512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/>
              </a:rPr>
              <a:t>Q: if so good, why not more easier AI? </a:t>
            </a:r>
            <a:endParaRPr lang="en-US" dirty="0"/>
          </a:p>
          <a:p>
            <a:r>
              <a:rPr dirty="0"/>
              <a:t>A: cause “big” sells; prompts/loops are cool  </a:t>
            </a:r>
            <a:r>
              <a:rPr sz="2800" b="1" dirty="0">
                <a:solidFill>
                  <a:srgbClr val="EA3323"/>
                </a:solidFill>
              </a:rPr>
              <a:t>[36]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CC1BC5-3E68-2AEA-C2A7-0DD5E5D50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62538" cy="4598996"/>
          </a:xfrm>
        </p:spPr>
        <p:txBody>
          <a:bodyPr>
            <a:noAutofit/>
          </a:bodyPr>
          <a:lstStyle/>
          <a:p>
            <a:r>
              <a:rPr lang="en-US" sz="2000" dirty="0">
                <a:solidFill/>
              </a:rPr>
              <a:t>Welcome to my  data center</a:t>
            </a:r>
          </a:p>
          <a:p>
            <a:pPr lvl="1"/>
            <a:r>
              <a:rPr lang="en-US" sz="2000" dirty="0">
                <a:solidFill/>
              </a:rPr>
              <a:t>ribbon on the door the </a:t>
            </a:r>
            <a:br>
              <a:rPr lang="en-US" sz="2000" dirty="0">
                <a:solidFill/>
              </a:rPr>
            </a:br>
            <a:r>
              <a:rPr lang="en-US" sz="2000" dirty="0">
                <a:solidFill/>
              </a:rPr>
              <a:t>mayor can cut</a:t>
            </a:r>
          </a:p>
          <a:p>
            <a:pPr lvl="1"/>
            <a:r>
              <a:rPr lang="en-US" sz="2000" b="1" dirty="0">
                <a:solidFill>
                  <a:srgbClr val="FF0000"/>
                </a:solidFill>
              </a:rPr>
              <a:t>such</a:t>
            </a:r>
            <a:r>
              <a:rPr lang="en-US" sz="2000" dirty="0">
                <a:solidFill/>
              </a:rPr>
              <a:t> a spectacle!</a:t>
            </a: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r>
              <a:rPr lang="en-US" sz="2000" dirty="0">
                <a:solidFill/>
              </a:rPr>
              <a:t>Compare that to </a:t>
            </a:r>
            <a:r>
              <a:rPr lang="en-US" sz="2000" b="1" dirty="0" err="1">
                <a:solidFill>
                  <a:srgbClr val="FF0000"/>
                </a:solidFill>
              </a:rPr>
              <a:t>timm</a:t>
            </a:r>
            <a:r>
              <a:rPr lang="en-US" sz="2000" b="1" dirty="0">
                <a:solidFill>
                  <a:srgbClr val="FF0000"/>
                </a:solidFill>
              </a:rPr>
              <a:t> inc</a:t>
            </a:r>
            <a:r>
              <a:rPr lang="en-US" sz="2000" dirty="0">
                <a:solidFill/>
              </a:rPr>
              <a:t>.</a:t>
            </a:r>
          </a:p>
          <a:p>
            <a:pPr lvl="1"/>
            <a:r>
              <a:rPr lang="en-US" sz="2000" dirty="0">
                <a:solidFill/>
              </a:rPr>
              <a:t>No special software to sell</a:t>
            </a:r>
          </a:p>
          <a:p>
            <a:pPr lvl="2"/>
            <a:r>
              <a:rPr lang="en-US" dirty="0">
                <a:solidFill/>
              </a:rPr>
              <a:t>you can build it yourself</a:t>
            </a:r>
          </a:p>
          <a:p>
            <a:pPr lvl="1"/>
            <a:r>
              <a:rPr lang="en-US" sz="2000" dirty="0">
                <a:solidFill/>
              </a:rPr>
              <a:t>No special hardware to sell </a:t>
            </a:r>
          </a:p>
          <a:p>
            <a:pPr lvl="2"/>
            <a:r>
              <a:rPr lang="en-US" dirty="0">
                <a:solidFill/>
              </a:rPr>
              <a:t>our algorithms  are so fast,</a:t>
            </a:r>
            <a:br>
              <a:rPr lang="en-US" dirty="0"/>
            </a:br>
            <a:r>
              <a:rPr lang="en-US" dirty="0">
                <a:solidFill/>
              </a:rPr>
              <a:t> they don’t </a:t>
            </a:r>
            <a:r>
              <a:rPr lang="en-US" b="1" dirty="0">
                <a:solidFill>
                  <a:srgbClr val="FF0000"/>
                </a:solidFill>
              </a:rPr>
              <a:t>need</a:t>
            </a:r>
            <a:r>
              <a:rPr lang="en-US" dirty="0">
                <a:solidFill/>
              </a:rPr>
              <a:t> it</a:t>
            </a:r>
          </a:p>
          <a:p>
            <a:pPr lvl="1"/>
            <a:r>
              <a:rPr lang="en-US" sz="2000" dirty="0">
                <a:solidFill/>
              </a:rPr>
              <a:t>IPO : low evaluation</a:t>
            </a:r>
            <a:endParaRPr lang="en-US" sz="2000" dirty="0"/>
          </a:p>
          <a:p>
            <a:endParaRPr lang="en-US" sz="2000" dirty="0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795" y="1712460"/>
            <a:ext cx="7231928" cy="43726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and simplicity is genuinely hard 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59484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684D6-C0EB-BE41-D9FF-6F818BFB5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Simplicity on the Other Side of Complexity">
            <a:extLst>
              <a:ext uri="{FF2B5EF4-FFF2-40B4-BE49-F238E27FC236}">
                <a16:creationId xmlns:a16="http://schemas.microsoft.com/office/drawing/2014/main" id="{EA7A1932-5E7C-82C2-EBB5-FF7710434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5270" y="1646233"/>
            <a:ext cx="5621604" cy="3517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045133-B62B-F189-709C-597076F20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if so good, why not easier AI?</a:t>
            </a:r>
            <a:br>
              <a:rPr lang="en-US" dirty="0"/>
            </a:br>
            <a:r>
              <a:rPr lang="en-US" dirty="0">
                <a:solidFill/>
              </a:rPr>
              <a:t>A: the simplicity paradox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07E95-98B4-21A0-6495-C5C670735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162" y="1960562"/>
            <a:ext cx="108156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>
                <a:solidFill/>
              </a:rPr>
              <a:t>Simplicity needs </a:t>
            </a:r>
            <a:r>
              <a:rPr lang="en-US" sz="2400" b="1" dirty="0">
                <a:solidFill>
                  <a:srgbClr val="FF0000"/>
                </a:solidFill>
              </a:rPr>
              <a:t>experience</a:t>
            </a:r>
            <a:r>
              <a:rPr lang="en-US" sz="2400" dirty="0">
                <a:solidFill/>
              </a:rPr>
              <a:t>.</a:t>
            </a:r>
          </a:p>
          <a:p>
            <a:pPr lvl="1"/>
            <a:r>
              <a:rPr lang="en-US" dirty="0">
                <a:solidFill/>
              </a:rPr>
              <a:t>“Experience is the name every one </a:t>
            </a:r>
            <a:br>
              <a:rPr lang="en-US" dirty="0"/>
            </a:br>
            <a:r>
              <a:rPr lang="en-US" dirty="0">
                <a:solidFill/>
              </a:rPr>
              <a:t>gives to their </a:t>
            </a:r>
            <a:r>
              <a:rPr lang="en-US" b="1" dirty="0">
                <a:solidFill>
                  <a:srgbClr val="FF0000"/>
                </a:solidFill>
              </a:rPr>
              <a:t>mistakes</a:t>
            </a:r>
            <a:r>
              <a:rPr lang="en-US" dirty="0">
                <a:solidFill/>
              </a:rPr>
              <a:t>.”</a:t>
            </a:r>
            <a:br>
              <a:rPr lang="en-US" dirty="0"/>
            </a:br>
            <a:r>
              <a:rPr lang="en-US" dirty="0">
                <a:solidFill/>
              </a:rPr>
              <a:t>— </a:t>
            </a:r>
            <a:r>
              <a:rPr lang="en-US" i="1" dirty="0">
                <a:solidFill/>
              </a:rPr>
              <a:t>Lady Windermere’s Fan</a:t>
            </a:r>
            <a:r>
              <a:rPr lang="en-US" dirty="0">
                <a:solidFill/>
              </a:rPr>
              <a:t> (1892) </a:t>
            </a:r>
            <a:br>
              <a:rPr lang="en-US" sz="2000" dirty="0"/>
            </a:br>
            <a:br>
              <a:rPr lang="en-US" sz="2000" dirty="0"/>
            </a:br>
            <a:br>
              <a:rPr lang="en-US" sz="2000" dirty="0"/>
            </a:br>
            <a:endParaRPr lang="en-US" sz="2000" dirty="0"/>
          </a:p>
          <a:p>
            <a:r>
              <a:rPr lang="en-US" sz="2400" dirty="0">
                <a:solidFill/>
              </a:rPr>
              <a:t>Simplicity is complicated to certify</a:t>
            </a:r>
          </a:p>
          <a:p>
            <a:pPr lvl="1"/>
            <a:r>
              <a:rPr lang="en-US" dirty="0">
                <a:solidFill/>
              </a:rPr>
              <a:t>You have to build and/or </a:t>
            </a:r>
            <a:r>
              <a:rPr lang="en-US" b="1" dirty="0">
                <a:solidFill>
                  <a:srgbClr val="FF0000"/>
                </a:solidFill>
              </a:rPr>
              <a:t>run</a:t>
            </a:r>
            <a:r>
              <a:rPr lang="en-US" dirty="0">
                <a:solidFill/>
              </a:rPr>
              <a:t> simpler “it” and complex “it”</a:t>
            </a:r>
          </a:p>
          <a:p>
            <a:pPr lvl="1"/>
            <a:r>
              <a:rPr lang="en-US" dirty="0">
                <a:solidFill/>
              </a:rPr>
              <a:t>Needs lot of CPU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sz="2400" dirty="0"/>
          </a:p>
        </p:txBody>
      </p:sp>
      <p:sp>
        <p:nvSpPr>
          <p:cNvPr id="1029" name="TextBox 1028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and our brains fight us →</a:t>
            </a:r>
          </a:p>
        </p:txBody>
      </p:sp>
      <p:sp>
        <p:nvSpPr>
          <p:cNvPr id="1030" name="TextBox 1029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425472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3DA17-EFB1-6BF0-3986-3BA7D602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7CD2B-B8F6-2458-E08F-83BF10C24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Q: if so good, why not more easier AI?</a:t>
            </a:r>
            <a:br>
              <a:rPr lang="en-US" dirty="0"/>
            </a:br>
            <a:r>
              <a:rPr lang="en-US" dirty="0">
                <a:solidFill/>
              </a:rPr>
              <a:t>A: human cognitive bias</a:t>
            </a:r>
            <a:r>
              <a:rPr b="1" dirty="0">
                <a:solidFill>
                  <a:srgbClr val="EA3323"/>
                </a:solidFill>
              </a:rPr>
              <a:t> </a:t>
            </a:r>
            <a:r>
              <a:rPr sz="2800" b="1">
                <a:solidFill>
                  <a:srgbClr val="EA3323"/>
                </a:solidFill>
              </a:rPr>
              <a:t> [37]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58E4D-6807-B3F0-2C31-EE3D245135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59906" cy="4351338"/>
          </a:xfrm>
        </p:spPr>
        <p:txBody>
          <a:bodyPr/>
          <a:lstStyle/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2E47B2-8955-049D-C598-A633A0DE3B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1548" y="1611852"/>
            <a:ext cx="2588568" cy="24613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F95CC6-154B-C603-2EF9-AAC02C9D1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1548" y="4190838"/>
            <a:ext cx="2759378" cy="2667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16ADD3-C814-1DF1-C190-4B2CCF8B01DD}"/>
              </a:ext>
            </a:extLst>
          </p:cNvPr>
          <p:cNvSpPr txBox="1"/>
          <p:nvPr/>
        </p:nvSpPr>
        <p:spPr>
          <a:xfrm>
            <a:off x="850075" y="1997116"/>
            <a:ext cx="1017703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Our simpler methods have not been </a:t>
            </a:r>
            <a:r>
              <a:rPr lang="en-US" sz="2400" b="1" dirty="0">
                <a:solidFill>
                  <a:srgbClr val="FF0000"/>
                </a:solidFill>
              </a:rPr>
              <a:t>previously</a:t>
            </a:r>
            <a:r>
              <a:rPr lang="en-US" sz="2400" dirty="0">
                <a:solidFill/>
              </a:rPr>
              <a:t> explored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since other researchers </a:t>
            </a:r>
            <a:r>
              <a:rPr lang="en-US" sz="2400" b="1" dirty="0">
                <a:solidFill/>
              </a:rPr>
              <a:t>were not looking for them</a:t>
            </a:r>
            <a:r>
              <a:rPr lang="en-US" sz="2400" dirty="0">
                <a:solidFill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Why?</a:t>
            </a:r>
            <a:br>
              <a:rPr lang="en-US" sz="2400" dirty="0"/>
            </a:b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Humans are biased to bloat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In </a:t>
            </a:r>
            <a:r>
              <a:rPr lang="en-US" sz="2400" b="1" dirty="0">
                <a:solidFill>
                  <a:srgbClr val="FF0000"/>
                </a:solidFill>
              </a:rPr>
              <a:t>studies</a:t>
            </a:r>
            <a:r>
              <a:rPr lang="en-US" sz="2400" dirty="0">
                <a:solidFill/>
              </a:rPr>
              <a:t> of 100s of human subjects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Humans favor   additive to subtractive changes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/>
              </a:rPr>
              <a:t>1,155 to 297 (about 4:1)</a:t>
            </a:r>
          </a:p>
          <a:p>
            <a:endParaRPr 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675120" y="6419088"/>
            <a:ext cx="5212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i="1">
                <a:solidFill>
                  <a:srgbClr val="B05000"/>
                </a:solidFill>
              </a:rPr>
              <a:t>so, to conclude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6651200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99CA1-6061-3255-12EE-39D78589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7487C31-F7BE-A176-E34B-0FA3792E9AEC}"/>
              </a:ext>
            </a:extLst>
          </p:cNvPr>
          <p:cNvSpPr/>
          <p:nvPr/>
        </p:nvSpPr>
        <p:spPr>
          <a:xfrm>
            <a:off x="-252714" y="-127322"/>
            <a:ext cx="12697428" cy="73730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7D029-C943-E090-C264-4A119F9650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3257"/>
            <a:ext cx="12192000" cy="4351338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500" dirty="0">
                <a:solidFill/>
              </a:rPr>
              <a:t> </a:t>
            </a:r>
            <a:endParaRPr lang="en-US" sz="6500" dirty="0"/>
          </a:p>
          <a:p>
            <a:pPr marL="0" indent="0" algn="ctr">
              <a:buNone/>
            </a:pPr>
            <a:r>
              <a:rPr lang="en-US" sz="6500" b="1" dirty="0">
                <a:solidFill/>
              </a:rPr>
              <a:t>TL;DR</a:t>
            </a:r>
            <a:endParaRPr lang="en-US" sz="6500" b="1" dirty="0"/>
          </a:p>
          <a:p>
            <a:pPr marL="0" indent="0" algn="ctr">
              <a:buNone/>
            </a:pPr>
            <a:r>
              <a:rPr lang="en-US" sz="6500" b="1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2D549AD-E873-0532-C99B-113524FDA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63" y="5851525"/>
            <a:ext cx="2260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01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13B9D-9EDD-8162-646E-8D60203CB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65A78-5BC1-FC2F-D9F9-97D23BC18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/>
              </a:rPr>
              <a:t>Lehman’s </a:t>
            </a:r>
            <a:r>
              <a:rPr lang="en-US" b="1" dirty="0">
                <a:solidFill>
                  <a:srgbClr val="FF0000"/>
                </a:solidFill>
              </a:rPr>
              <a:t>2nd</a:t>
            </a:r>
            <a:r>
              <a:rPr lang="en-US" dirty="0">
                <a:solidFill/>
              </a:rPr>
              <a:t> law</a:t>
            </a:r>
            <a:r>
              <a:rPr sz="2800" b="1">
                <a:solidFill>
                  <a:srgbClr val="EA3323"/>
                </a:solidFill>
              </a:rPr>
              <a:t> [1]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AC273-9F43-84EB-47C2-0CD9E81197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8488"/>
            <a:ext cx="6002438" cy="4851400"/>
          </a:xfrm>
        </p:spPr>
        <p:txBody>
          <a:bodyPr>
            <a:noAutofit/>
          </a:bodyPr>
          <a:lstStyle/>
          <a:p>
            <a:r>
              <a:rPr lang="en-US" sz="2000" dirty="0">
                <a:solidFill/>
              </a:rPr>
              <a:t>“as a  system evolves, its complexity </a:t>
            </a:r>
            <a:r>
              <a:rPr lang="en-US" sz="20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increases</a:t>
            </a:r>
            <a:r>
              <a:rPr lang="en-US" sz="2000" dirty="0">
                <a:solidFill/>
              </a:rPr>
              <a:t> unless work is done to maintain or reduce it”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>
                <a:solidFill/>
              </a:rPr>
              <a:t>Q: why / how can we </a:t>
            </a:r>
            <a:r>
              <a:rPr lang="en-US" sz="2000" b="1" dirty="0">
                <a:solidFill>
                  <a:srgbClr val="FF0000"/>
                </a:solidFill>
              </a:rPr>
              <a:t>reduce</a:t>
            </a:r>
            <a:r>
              <a:rPr lang="en-US" sz="2000" dirty="0">
                <a:solidFill/>
              </a:rPr>
              <a:t> the complexity of AI?</a:t>
            </a:r>
          </a:p>
          <a:p>
            <a:r>
              <a:rPr lang="en-US" sz="2000" dirty="0">
                <a:solidFill/>
              </a:rPr>
              <a:t>A: we must / we can</a:t>
            </a:r>
            <a:br>
              <a:rPr lang="en-US" sz="2000" dirty="0"/>
            </a:br>
            <a:endParaRPr lang="en-US" sz="2000" dirty="0"/>
          </a:p>
          <a:p>
            <a:r>
              <a:rPr lang="en-US" sz="2000" b="1" dirty="0">
                <a:solidFill>
                  <a:srgbClr val="FF0000"/>
                </a:solidFill>
              </a:rPr>
              <a:t>do</a:t>
            </a:r>
            <a:r>
              <a:rPr lang="en-US" sz="2000" dirty="0">
                <a:solidFill/>
              </a:rPr>
              <a:t>: baseline the simple:  </a:t>
            </a:r>
            <a:br>
              <a:rPr lang="en-US" sz="2000" dirty="0"/>
            </a:br>
            <a:r>
              <a:rPr lang="en-US" sz="2000" dirty="0">
                <a:solidFill/>
              </a:rPr>
              <a:t>         pip install ezr  +  tiny.cc/moot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review</a:t>
            </a:r>
            <a:r>
              <a:rPr lang="en-US" sz="2000" dirty="0">
                <a:solidFill/>
              </a:rPr>
              <a:t>: </a:t>
            </a:r>
          </a:p>
          <a:p>
            <a:pPr lvl="1"/>
            <a:r>
              <a:rPr lang="en-US" sz="2000" dirty="0">
                <a:solidFill/>
              </a:rPr>
              <a:t>ask “compared to what simpler?”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teach</a:t>
            </a:r>
            <a:r>
              <a:rPr lang="en-US" sz="2000" dirty="0">
                <a:solidFill/>
              </a:rPr>
              <a:t>: </a:t>
            </a:r>
          </a:p>
          <a:p>
            <a:pPr lvl="1"/>
            <a:r>
              <a:rPr lang="en-US" sz="2000" dirty="0">
                <a:solidFill/>
              </a:rPr>
              <a:t>easier AI first; scale only when simple fails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F2CA94D-1296-46D5-2439-478703AF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7497070" y="2316102"/>
            <a:ext cx="5475229" cy="41064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19066682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79E3E-45FD-9C36-2895-E5192485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4A2AC7-1C6C-0B6E-788C-059E353D8674}"/>
              </a:ext>
            </a:extLst>
          </p:cNvPr>
          <p:cNvSpPr/>
          <p:nvPr/>
        </p:nvSpPr>
        <p:spPr>
          <a:xfrm>
            <a:off x="-37071" y="-86497"/>
            <a:ext cx="12697428" cy="779320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1B733-6733-0427-A420-880CBAE6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3257"/>
            <a:ext cx="12192000" cy="4351338"/>
          </a:xfrm>
        </p:spPr>
        <p:txBody>
          <a:bodyPr anchor="ctr">
            <a:noAutofit/>
          </a:bodyPr>
          <a:lstStyle/>
          <a:p>
            <a:pPr marL="0" indent="0" algn="ctr">
              <a:buNone/>
            </a:pPr>
            <a:r>
              <a:rPr lang="en-US" sz="4000" dirty="0">
                <a:solidFill/>
              </a:rPr>
              <a:t> </a:t>
            </a:r>
            <a:br>
              <a:rPr lang="en-US" sz="4000" dirty="0"/>
            </a:br>
            <a:endParaRPr lang="en-US" sz="4000" dirty="0"/>
          </a:p>
          <a:p>
            <a:pPr marL="0" indent="0" algn="ctr">
              <a:buNone/>
            </a:pPr>
            <a:r>
              <a:rPr lang="en-US" sz="8000" dirty="0">
                <a:solidFill/>
              </a:rPr>
              <a:t>/ (question | comment)* /</a:t>
            </a:r>
            <a:br>
              <a:rPr lang="en-US" sz="4000" dirty="0">
                <a:solidFill/>
              </a:rPr>
            </a:br>
            <a:endParaRPr lang="en-US" sz="4000" dirty="0">
              <a:solidFill/>
            </a:endParaRPr>
          </a:p>
          <a:p>
            <a:pPr marL="0" indent="0" algn="ctr">
              <a:buNone/>
            </a:pPr>
            <a:endParaRPr lang="en-US" sz="4000" dirty="0">
              <a:solidFill/>
            </a:endParaRPr>
          </a:p>
          <a:p>
            <a:pPr marL="0" indent="0" algn="ctr">
              <a:buNone/>
            </a:pPr>
            <a:br>
              <a:rPr lang="en-US" sz="4000" dirty="0">
                <a:solidFill/>
              </a:rPr>
            </a:br>
            <a:r>
              <a:rPr lang="en-US" sz="4000" dirty="0">
                <a:solidFill/>
              </a:rPr>
              <a:t>code: </a:t>
            </a:r>
            <a:r>
              <a:rPr lang="en-US" sz="4000" b="1" i="1" dirty="0">
                <a:solidFill>
                  <a:srgbClr val="FF0000"/>
                </a:solidFill>
              </a:rPr>
              <a:t>pip install </a:t>
            </a:r>
            <a:r>
              <a:rPr lang="en-US" sz="4000" b="1" i="1" dirty="0" err="1">
                <a:solidFill>
                  <a:srgbClr val="FF0000"/>
                </a:solidFill>
              </a:rPr>
              <a:t>ezr</a:t>
            </a:r>
            <a:br>
              <a:rPr lang="en-US" sz="4000" b="1" i="1" dirty="0">
                <a:solidFill/>
              </a:rPr>
            </a:br>
            <a:r>
              <a:rPr lang="en-US" sz="4000" dirty="0">
                <a:solidFill/>
              </a:rPr>
              <a:t>data: </a:t>
            </a:r>
            <a:r>
              <a:rPr lang="en-US" sz="4000" b="1" i="1" dirty="0">
                <a:solidFill>
                  <a:srgbClr val="FF0000"/>
                </a:solidFill>
              </a:rPr>
              <a:t>http://</a:t>
            </a:r>
            <a:r>
              <a:rPr lang="en-US" sz="4000" b="1" i="1" dirty="0" err="1">
                <a:solidFill>
                  <a:srgbClr val="FF0000"/>
                </a:solidFill>
              </a:rPr>
              <a:t>tiny.cc</a:t>
            </a:r>
            <a:r>
              <a:rPr lang="en-US" sz="4000" b="1" i="1" dirty="0">
                <a:solidFill>
                  <a:srgbClr val="FF0000"/>
                </a:solidFill>
              </a:rPr>
              <a:t>/moot</a:t>
            </a:r>
            <a:endParaRPr lang="en-US" sz="4000" dirty="0"/>
          </a:p>
          <a:p>
            <a:pPr marL="0" indent="0" algn="ctr">
              <a:buNone/>
            </a:pPr>
            <a:r>
              <a:rPr lang="en-US" sz="4000" b="1" dirty="0">
                <a:solidFill>
                  <a:srgbClr val="C00000"/>
                </a:solidFill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8482C4-1CDA-3B02-B8C3-15FFF05E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" y="5899150"/>
            <a:ext cx="22606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6140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</a:pPr>
            <a:r>
              <a:rPr sz="1400" b="1" dirty="0">
                <a:solidFill>
                  <a:srgbClr val="EA3323"/>
                </a:solidFill>
              </a:rPr>
              <a:t>[1]	</a:t>
            </a:r>
            <a:r>
              <a:rPr sz="1400" dirty="0"/>
              <a:t>Lehman, Meir M. "Programs, Life Cycles, and Laws of Software Evolution." Proceedings of the IEEE, vol. 68, no. 9, 1980, pp. 1060-1076.</a:t>
            </a:r>
            <a:endParaRPr lang="en-US" sz="1400" b="1" dirty="0">
              <a:solidFill>
                <a:srgbClr val="EA3323"/>
              </a:solidFill>
            </a:endParaRP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[2]	</a:t>
            </a:r>
            <a:r>
              <a:rPr sz="1400" dirty="0"/>
              <a:t>Nair V,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 T., Chen J. An (Accidental) Exploration of Alternatives to Evolutionary Algorithms for SBSE" presented at SSBSE 2016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[3]	</a:t>
            </a:r>
            <a:r>
              <a:rPr sz="1400" dirty="0"/>
              <a:t>Wirth, Niklaus. "A Plea for Lean Software." Computer, vol. 28, no. 2, 1995, pp. 64-68.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[4]	</a:t>
            </a:r>
            <a:r>
              <a:rPr sz="1400" dirty="0"/>
              <a:t>Bain &amp; Company. Global Technology Report 2025. Bain &amp; Company, Sept. 2025.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[5]	</a:t>
            </a:r>
            <a:r>
              <a:rPr sz="1400" dirty="0"/>
              <a:t>Schwartz, Roy, et al. "Green AI." Communications of the ACM, vol. 63, no. 12, 2020, pp. 54-63.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[6]	</a:t>
            </a:r>
            <a:r>
              <a:rPr sz="1400" dirty="0"/>
              <a:t>Xu, </a:t>
            </a:r>
            <a:r>
              <a:rPr sz="1400" dirty="0" err="1"/>
              <a:t>Tianyin</a:t>
            </a:r>
            <a:r>
              <a:rPr sz="1400" dirty="0"/>
              <a:t>, et al. "Hey, You Have Given Me Too Many Knobs! Understanding and Dealing with Over-Designed Configuration in System Software." Proceedings of the 10th Joint Meeting on Foundations of Software Engineering (FSE), ACM, 2015, pp. 307-319.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[7]	</a:t>
            </a:r>
            <a:r>
              <a:rPr sz="1400" dirty="0"/>
              <a:t>Villalobos, Pablo, et al. "Will We Run Out of Data? Limits of LLM Scaling Based on Human-Generated Data." Proceedings of the 41st International Conference on Machine Learning (ICML), 2024.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[8]	</a:t>
            </a:r>
            <a:r>
              <a:rPr sz="1400" dirty="0" err="1"/>
              <a:t>Tawosi</a:t>
            </a:r>
            <a:r>
              <a:rPr sz="1400" dirty="0"/>
              <a:t>, Vali, Rebecca Moussa, and Federica Sarro. "Agile Effort Estimation: Have We Solved the Problem Yet? Insights from a Replication Study." IEEE Transactions on Software Engineering, vol. 49, no. 4, 2023, pp. 2677-2697.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[9]	</a:t>
            </a:r>
            <a:r>
              <a:rPr sz="1400" dirty="0"/>
              <a:t>Majumder, </a:t>
            </a:r>
            <a:r>
              <a:rPr sz="1400" dirty="0" err="1"/>
              <a:t>Suvodeep</a:t>
            </a:r>
            <a:r>
              <a:rPr sz="1400" dirty="0"/>
              <a:t>, </a:t>
            </a:r>
            <a:r>
              <a:rPr lang="en-US" sz="1400" dirty="0"/>
              <a:t>Tim </a:t>
            </a:r>
            <a:r>
              <a:rPr lang="en-US" sz="1400" b="1" dirty="0">
                <a:solidFill>
                  <a:srgbClr val="FF0000"/>
                </a:solidFill>
              </a:rPr>
              <a:t>Menzies  </a:t>
            </a:r>
            <a:r>
              <a:rPr sz="1400" dirty="0"/>
              <a:t>et al. "500+ Times Faster than Deep Learning: A Case Study Exploring Faster Methods for Text Mining </a:t>
            </a:r>
            <a:r>
              <a:rPr sz="1400" dirty="0" err="1"/>
              <a:t>StackOverflow</a:t>
            </a:r>
            <a:r>
              <a:rPr sz="1400" dirty="0"/>
              <a:t>." Proceedings of the 15th International Conference on Mining Software Repositories (MSR), ACM, 2018.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[10]	</a:t>
            </a:r>
            <a:r>
              <a:rPr sz="1400" dirty="0"/>
              <a:t>Ling, Xiao, </a:t>
            </a:r>
            <a:r>
              <a:rPr lang="en-US" sz="1400" dirty="0"/>
              <a:t>Tim </a:t>
            </a:r>
            <a:r>
              <a:rPr lang="en-US" sz="1400" b="1" dirty="0">
                <a:solidFill>
                  <a:srgbClr val="FF0000"/>
                </a:solidFill>
              </a:rPr>
              <a:t>Menzies</a:t>
            </a:r>
            <a:r>
              <a:rPr lang="en-US" sz="1400" dirty="0"/>
              <a:t> </a:t>
            </a:r>
            <a:r>
              <a:rPr sz="1400" dirty="0"/>
              <a:t>et al. "Trading Off Scalability, Privacy, and Performance in Data Synthesis." IEEE Access, vol. 12, 2024, pp. 26642-26654.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[11]	</a:t>
            </a:r>
            <a:r>
              <a:rPr sz="1400" dirty="0"/>
              <a:t>Fu, Wei,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"Easy over Hard: A Case Study on Deep Learning." Proceedings of the 11th Joint Meeting on Foundations of Software Engineering (ESEC/FSE), ACM, 2017, pp. 49-60.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[12]	</a:t>
            </a:r>
            <a:r>
              <a:rPr sz="1400" dirty="0"/>
              <a:t>Fu, Wei,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, and </a:t>
            </a:r>
            <a:r>
              <a:rPr sz="1400" dirty="0" err="1"/>
              <a:t>Xipeng</a:t>
            </a:r>
            <a:r>
              <a:rPr sz="1400" dirty="0"/>
              <a:t> Shen. "Tuning for Software Analytics: Is It Really Necessary?" Information and Software Technology, vol. 76, 2016, pp. 135-146.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[13]	</a:t>
            </a:r>
            <a:r>
              <a:rPr sz="1400" dirty="0" err="1"/>
              <a:t>Somvanshi</a:t>
            </a:r>
            <a:r>
              <a:rPr sz="1400" dirty="0"/>
              <a:t>, </a:t>
            </a:r>
            <a:r>
              <a:rPr sz="1400" dirty="0" err="1"/>
              <a:t>Shriyank</a:t>
            </a:r>
            <a:r>
              <a:rPr sz="1400" dirty="0"/>
              <a:t>, et al. "A Survey on Deep Tabular Learning." </a:t>
            </a:r>
            <a:r>
              <a:rPr sz="1400" dirty="0" err="1"/>
              <a:t>arXiv</a:t>
            </a:r>
            <a:r>
              <a:rPr sz="1400" dirty="0"/>
              <a:t> preprint arXiv:2410.12034, 2024.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References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883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</a:pPr>
            <a:r>
              <a:rPr sz="1400" b="1" dirty="0">
                <a:solidFill>
                  <a:srgbClr val="EA3323"/>
                </a:solidFill>
              </a:rPr>
              <a:t>[14]	</a:t>
            </a:r>
            <a:r>
              <a:rPr sz="1400" dirty="0" err="1"/>
              <a:t>Grinsztajn</a:t>
            </a:r>
            <a:r>
              <a:rPr sz="1400" dirty="0"/>
              <a:t>, Leo, Edouard </a:t>
            </a:r>
            <a:r>
              <a:rPr sz="1400" dirty="0" err="1"/>
              <a:t>Oyallon</a:t>
            </a:r>
            <a:r>
              <a:rPr sz="1400" dirty="0"/>
              <a:t>, and Gael </a:t>
            </a:r>
            <a:r>
              <a:rPr sz="1400" dirty="0" err="1"/>
              <a:t>Varoquaux</a:t>
            </a:r>
            <a:r>
              <a:rPr sz="1400" dirty="0"/>
              <a:t>. "Why Do Tree-Based Models Still Outperform Deep Learning on Typical Tabular Data?" Proceedings of </a:t>
            </a:r>
            <a:r>
              <a:rPr sz="1400" dirty="0" err="1"/>
              <a:t>NeurIPS</a:t>
            </a:r>
            <a:r>
              <a:rPr sz="1400" dirty="0"/>
              <a:t> Datasets and Benchmarks Track, 2022.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[15]	</a:t>
            </a:r>
            <a:r>
              <a:rPr sz="1400" dirty="0"/>
              <a:t>Pearson, Karl. "On Lines and Planes of Closest Fit to Systems of Points in Space." The London, Edinburgh, and Dublin Philosophical Magazine and Journal of Science, vol. 2, no. 11, 1901, pp. 559-572.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[16]	</a:t>
            </a:r>
            <a:r>
              <a:rPr sz="1400" dirty="0" err="1"/>
              <a:t>Amarel</a:t>
            </a:r>
            <a:r>
              <a:rPr sz="1400" dirty="0"/>
              <a:t>, Saul. "Program Synthesis as a Theory Formation Task: Problem Representations and Solution Methods." Machine Learning: An Artificial Intelligence Approach, Morgan Kaufmann, 1986.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[17]	</a:t>
            </a:r>
            <a:r>
              <a:rPr sz="1400" dirty="0"/>
              <a:t>Chang, Chin-Liang. "Finding Prototypes for Nearest Neighbor Classifiers." IEEE Transactions on Computers, vol. C-23, no. 11, 1974, pp. 1179-1184.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[18]	</a:t>
            </a:r>
            <a:r>
              <a:rPr sz="1400" dirty="0"/>
              <a:t>Johnson, William B., and Joram </a:t>
            </a:r>
            <a:r>
              <a:rPr sz="1400" dirty="0" err="1"/>
              <a:t>Lindenstrauss</a:t>
            </a:r>
            <a:r>
              <a:rPr sz="1400" dirty="0"/>
              <a:t>. "Extensions of Lipschitz Mappings into a Hilbert Space." Contemporary Mathematics, vol. 26, 1984, pp. 189-206.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[19]	</a:t>
            </a:r>
            <a:r>
              <a:rPr sz="1400" dirty="0"/>
              <a:t>De Kleer, Johan. "An Assumption-Based TMS." Artificial Intelligence, vol. 28, no. 2, 1986, pp. 127-162.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[20]	</a:t>
            </a:r>
            <a:r>
              <a:rPr sz="1400" dirty="0"/>
              <a:t>Crawford, James M., and Andrew B. Baker. "Experimental Results on the Application of Satisfiability Algorithms to Scheduling Problems." Proceedings of the 12th National Conference on Artificial Intelligence (AAAI), 1994, pp. 1092-1097.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[21]	</a:t>
            </a:r>
            <a:r>
              <a:rPr sz="1400" dirty="0" err="1"/>
              <a:t>Olshausen</a:t>
            </a:r>
            <a:r>
              <a:rPr sz="1400" dirty="0"/>
              <a:t>, Bruno A., and David J. Field. "Emergence of Simple-Cell Receptive Field Properties by Learning a Sparse Code for Natural Images." Nature, vol. 381, 1996, pp. 607-609.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[22]	</a:t>
            </a:r>
            <a:r>
              <a:rPr sz="1400" dirty="0"/>
              <a:t>Kohavi, Ron, and George H. John. "Wrappers for Feature Subset Selection." Artificial Intelligence, vol. 97, no. 1-2, 1997, pp. 273-324.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[23]	</a:t>
            </a:r>
            <a:r>
              <a:rPr sz="1400" dirty="0"/>
              <a:t>Williams, Ryan, Carla P. Gomes, and Bart Selman. "Backdoors to Typical Case Complexity." Proceedings of the International Joint Conference on Artificial Intelligence (IJCAI), 2003, pp. 1173-1178.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[24]	</a:t>
            </a:r>
            <a:r>
              <a:rPr sz="1400" dirty="0"/>
              <a:t>Zhu, </a:t>
            </a:r>
            <a:r>
              <a:rPr sz="1400" dirty="0" err="1"/>
              <a:t>Xiaojin</a:t>
            </a:r>
            <a:r>
              <a:rPr sz="1400" dirty="0"/>
              <a:t>. "Semi-Supervised Learning Literature Survey." Computer Sciences Technical Report 1530, University of Wisconsin-Madison, 2005.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[25]	</a:t>
            </a:r>
            <a:r>
              <a:rPr sz="1400" dirty="0"/>
              <a:t>Settles, Burr. "Active Learning Literature Survey." Computer Sciences Technical Report 1648, University of Wisconsin-Madison, 2009.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[26]	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, Tim. "Shockingly Simple: 'Keys' for Better AI for SE." IEEE Software, vol. 38, no. 2, 2021, pp. 114-118.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 dirty="0"/>
              <a:t>References (cont.)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423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400"/>
              </a:spcAft>
            </a:pPr>
            <a:r>
              <a:rPr sz="1400" b="1" dirty="0">
                <a:solidFill>
                  <a:srgbClr val="EA3323"/>
                </a:solidFill>
              </a:rPr>
              <a:t>[27]	</a:t>
            </a:r>
            <a:r>
              <a:rPr sz="1400" dirty="0"/>
              <a:t>Nair, Vivek, </a:t>
            </a:r>
            <a:r>
              <a:rPr lang="en-US" sz="1400" dirty="0"/>
              <a:t>Tim </a:t>
            </a:r>
            <a:r>
              <a:rPr lang="en-US" sz="1400" b="1" dirty="0">
                <a:solidFill>
                  <a:srgbClr val="FF0000"/>
                </a:solidFill>
              </a:rPr>
              <a:t>Menzies</a:t>
            </a:r>
            <a:r>
              <a:rPr lang="en-US" sz="1400" dirty="0"/>
              <a:t>, </a:t>
            </a:r>
            <a:r>
              <a:rPr sz="1400" dirty="0"/>
              <a:t>et al. "Finding Faster Configurations Using FLASH." IEEE Transactions on Software Engineering, vol. 46, no. 7, 2018, pp. 794-811.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[28]	</a:t>
            </a:r>
            <a:r>
              <a:rPr sz="1400" dirty="0"/>
              <a:t>Yang, </a:t>
            </a:r>
            <a:r>
              <a:rPr sz="1400" dirty="0" err="1"/>
              <a:t>Chuanpeng</a:t>
            </a:r>
            <a:r>
              <a:rPr sz="1400" dirty="0"/>
              <a:t>, et al. "Survey on Knowledge Distillation for Large Language Models: Methods, Evaluation, and Application." ACM Transactions on Intelligent Systems and Technology, 2024.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[29]	</a:t>
            </a:r>
            <a:r>
              <a:rPr sz="1400" dirty="0"/>
              <a:t>Lindauer, Marius, et al. "SMAC3: A Versatile Bayesian Optimization Package for Hyperparameter Optimization." Journal of Machine Learning Research, vol. 23, no. 54, 2022, pp. 1-9.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[30]	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, Tim, et al. "MOOT: A Repository of Many Multi-Objective Optimization Tasks." Proceedings of the International Conference on Mining Software Repositories (MSR), ACM, 2026.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[31]	</a:t>
            </a:r>
            <a:r>
              <a:rPr sz="1400" dirty="0"/>
              <a:t>Ganguly, Kishan Kumar,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"How Low Can You Go? The Data-Light SE Challenge." Proceedings of the ACM on Software Engineering, vol. 3, no. FSE, Article FSE185, 2026.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[32]	</a:t>
            </a:r>
            <a:r>
              <a:rPr sz="1400" dirty="0"/>
              <a:t>Ganguly, Kishan Kumar,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"Which Optimizer, At What Budget? A Tournament of Optimizers for Search-Based SE." 2026, under review.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[33]	</a:t>
            </a:r>
            <a:r>
              <a:rPr sz="1400" dirty="0"/>
              <a:t>Rayegan, Amirali,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"Minimal Data, Maximum Clarity: A Heuristic for Explaining Optimization." Journal of Systems and Software, vol. 238, 2026, 112897.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[34]	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, Tim, and Srinath Srinivasan. "Can AI Be Easy? Lessons Learned from the </a:t>
            </a:r>
            <a:r>
              <a:rPr sz="1400" dirty="0" err="1"/>
              <a:t>EZR.py</a:t>
            </a:r>
            <a:r>
              <a:rPr sz="1400" dirty="0"/>
              <a:t> Toolkit." </a:t>
            </a:r>
            <a:r>
              <a:rPr sz="1400" dirty="0" err="1"/>
              <a:t>arXiv</a:t>
            </a:r>
            <a:r>
              <a:rPr sz="1400" dirty="0"/>
              <a:t> preprint arXiv:2606.03640, 2026.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[35]	</a:t>
            </a:r>
            <a:r>
              <a:rPr sz="1400" dirty="0"/>
              <a:t>Senthilkumar, Lohith,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"Can Large Language Models Improve SE Active Learning via Warm-Starts?" ACM Transactions on Software Engineering and Methodology, 2026.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[36]	</a:t>
            </a:r>
            <a:r>
              <a:rPr sz="1400" dirty="0"/>
              <a:t>Srinivasan, Srinath, and Tim </a:t>
            </a:r>
            <a:r>
              <a:rPr sz="1400" b="1" dirty="0">
                <a:solidFill>
                  <a:srgbClr val="FF0000"/>
                </a:solidFill>
              </a:rPr>
              <a:t>Menzies</a:t>
            </a:r>
            <a:r>
              <a:rPr sz="1400" dirty="0"/>
              <a:t>. "Better Together, in the Right Order: Classical-then-LLM Optimization for SE." </a:t>
            </a:r>
            <a:r>
              <a:rPr sz="1400" dirty="0" err="1"/>
              <a:t>arXiv</a:t>
            </a:r>
            <a:r>
              <a:rPr sz="1400" dirty="0"/>
              <a:t> preprint, 2026.</a:t>
            </a:r>
          </a:p>
          <a:p>
            <a:pPr marL="457200" indent="-457200"/>
            <a:r>
              <a:rPr sz="1400" b="1" dirty="0">
                <a:solidFill>
                  <a:srgbClr val="EA3323"/>
                </a:solidFill>
              </a:rPr>
              <a:t>[37]	</a:t>
            </a:r>
            <a:r>
              <a:rPr sz="1400" dirty="0"/>
              <a:t>Adams, Gabrielle S., et al. "People Systematically Overlook Subtractive Changes." Nature, vol. 592, 2021, pp. 258-261.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630936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A3323"/>
                </a:solidFill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3901</TotalTime>
  <Words>3489</Words>
  <Application>Microsoft Macintosh PowerPoint</Application>
  <PresentationFormat>Widescreen</PresentationFormat>
  <Paragraphs>309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Aptos</vt:lpstr>
      <vt:lpstr>Aptos Display</vt:lpstr>
      <vt:lpstr>Arial</vt:lpstr>
      <vt:lpstr>Cambria Math</vt:lpstr>
      <vt:lpstr>Courier New</vt:lpstr>
      <vt:lpstr>Wingdings</vt:lpstr>
      <vt:lpstr>Office Theme</vt:lpstr>
      <vt:lpstr>easier AI?  </vt:lpstr>
      <vt:lpstr>PowerPoint Presentation</vt:lpstr>
      <vt:lpstr>PowerPoint Presentation</vt:lpstr>
      <vt:lpstr>Q: why easier AI? A: economics  [3] [4]</vt:lpstr>
      <vt:lpstr>Q: why easier AI? A: easier to trust; easier to watch and understand</vt:lpstr>
      <vt:lpstr>Q: why easier AI? A: cause some domains demand it  [5]</vt:lpstr>
      <vt:lpstr>Q: why easier AI? A: software engineering</vt:lpstr>
      <vt:lpstr>Q: why easier AI? A: cause “big AI” needs too much data [7,10]</vt:lpstr>
      <vt:lpstr>Q: why easier AI? A:  more AI not always better [8][9][10]</vt:lpstr>
      <vt:lpstr>PowerPoint Presentation</vt:lpstr>
      <vt:lpstr>Q: how to do easier AI? A: so many ways [15-28]</vt:lpstr>
      <vt:lpstr>Q: how to do easier AI (with active learning) A: use current model to decide what’s next  [29]</vt:lpstr>
      <vt:lpstr>Q: how to test EZR? A: read lots of papers, collect their data  [30]</vt:lpstr>
      <vt:lpstr>Q: how to score EZR? A: win = 1 - normalize(regret)  [31]</vt:lpstr>
      <vt:lpstr>Q: how well does EZR generalize? A: sort holdout via tree, check first few  [31]</vt:lpstr>
      <vt:lpstr>Q: how fast and effective      are EZR’s trees? A: very and very  [32]</vt:lpstr>
      <vt:lpstr>Q: how big are EZR’s models? A: surprisingly small   [33]</vt:lpstr>
      <vt:lpstr>Q: so is EZR useful for explanation? A: EZR’s trees competitive with SOTA   [33]  </vt:lpstr>
      <vt:lpstr>Q: what does EZR say about LLMs? A: LLMs rarely tested against simpler tool   [34]</vt:lpstr>
      <vt:lpstr>PowerPoint Presentation</vt:lpstr>
      <vt:lpstr>Q: if so good, why not more easier AI?  A: (weak) empirical standards  [34] [35]</vt:lpstr>
      <vt:lpstr>Q: if so good, why not more easier AI?  A: cause “big” sells; prompts/loops are cool  [36]</vt:lpstr>
      <vt:lpstr>Q: if so good, why not easier AI? A: the simplicity paradox </vt:lpstr>
      <vt:lpstr>Q: if so good, why not more easier AI? A: human cognitive bias  [37]</vt:lpstr>
      <vt:lpstr>PowerPoint Presentation</vt:lpstr>
      <vt:lpstr>Lehman’s 2nd law [1]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James Menzies</dc:creator>
  <cp:lastModifiedBy>Timothy James Menzies</cp:lastModifiedBy>
  <cp:revision>46</cp:revision>
  <cp:lastPrinted>2026-07-05T03:15:11Z</cp:lastPrinted>
  <dcterms:created xsi:type="dcterms:W3CDTF">2026-07-01T18:28:53Z</dcterms:created>
  <dcterms:modified xsi:type="dcterms:W3CDTF">2026-07-05T08:05:46Z</dcterms:modified>
</cp:coreProperties>
</file>